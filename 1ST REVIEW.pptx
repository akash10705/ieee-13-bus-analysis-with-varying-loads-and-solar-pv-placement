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70" r:id="rId5"/>
    <p:sldId id="259" r:id="rId6"/>
    <p:sldId id="283" r:id="rId7"/>
    <p:sldId id="284" r:id="rId8"/>
    <p:sldId id="274" r:id="rId9"/>
    <p:sldId id="261" r:id="rId10"/>
    <p:sldId id="262" r:id="rId11"/>
    <p:sldId id="263" r:id="rId12"/>
    <p:sldId id="264" r:id="rId13"/>
    <p:sldId id="271" r:id="rId14"/>
    <p:sldId id="280" r:id="rId15"/>
    <p:sldId id="266" r:id="rId16"/>
    <p:sldId id="286" r:id="rId17"/>
    <p:sldId id="268" r:id="rId18"/>
    <p:sldId id="28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51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674D1E-F54D-4023-8CDA-FAA4435B0A49}" type="datetimeFigureOut">
              <a:rPr lang="en-IN" smtClean="0"/>
              <a:t>19-03-2026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D37CB0-B65F-4EF5-AE3A-EB9140C008E0}" type="slidenum">
              <a:rPr lang="en-IN" smtClean="0"/>
              <a:t>‹#›</a:t>
            </a:fld>
            <a:endParaRPr lang="en-IN"/>
          </a:p>
        </p:txBody>
      </p:sp>
    </p:spTree>
    <p:extLst>
      <p:ext uri="{BB962C8B-B14F-4D97-AF65-F5344CB8AC3E}">
        <p14:creationId xmlns:p14="http://schemas.microsoft.com/office/powerpoint/2010/main" val="2728453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9510-6551-42D1-90B8-A1B3FFBAB2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EF6E197-EA72-44E0-BE66-F90745C166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F72D74-86AF-4325-9905-C777059BF7BF}"/>
              </a:ext>
            </a:extLst>
          </p:cNvPr>
          <p:cNvSpPr>
            <a:spLocks noGrp="1"/>
          </p:cNvSpPr>
          <p:nvPr>
            <p:ph type="dt" sz="half" idx="10"/>
          </p:nvPr>
        </p:nvSpPr>
        <p:spPr/>
        <p:txBody>
          <a:bodyPr/>
          <a:lstStyle/>
          <a:p>
            <a:fld id="{0B88CF53-55CD-4C45-8C36-D24F2ABC658C}" type="datetimeFigureOut">
              <a:rPr lang="en-IN" smtClean="0"/>
              <a:t>19-03-2026</a:t>
            </a:fld>
            <a:endParaRPr lang="en-IN"/>
          </a:p>
        </p:txBody>
      </p:sp>
      <p:sp>
        <p:nvSpPr>
          <p:cNvPr id="5" name="Footer Placeholder 4">
            <a:extLst>
              <a:ext uri="{FF2B5EF4-FFF2-40B4-BE49-F238E27FC236}">
                <a16:creationId xmlns:a16="http://schemas.microsoft.com/office/drawing/2014/main" id="{D09E0AB1-CC95-472F-A5F3-373595AE2C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D91C62-E9A4-46B2-9F9D-2CB3A6C1DDD5}"/>
              </a:ext>
            </a:extLst>
          </p:cNvPr>
          <p:cNvSpPr>
            <a:spLocks noGrp="1"/>
          </p:cNvSpPr>
          <p:nvPr>
            <p:ph type="sldNum" sz="quarter" idx="12"/>
          </p:nvPr>
        </p:nvSpPr>
        <p:spPr/>
        <p:txBody>
          <a:bodyPr/>
          <a:lstStyle/>
          <a:p>
            <a:fld id="{3DF56666-EF93-4340-8B1F-179DBF3058CC}" type="slidenum">
              <a:rPr lang="en-IN" smtClean="0"/>
              <a:t>‹#›</a:t>
            </a:fld>
            <a:endParaRPr lang="en-IN"/>
          </a:p>
        </p:txBody>
      </p:sp>
    </p:spTree>
    <p:extLst>
      <p:ext uri="{BB962C8B-B14F-4D97-AF65-F5344CB8AC3E}">
        <p14:creationId xmlns:p14="http://schemas.microsoft.com/office/powerpoint/2010/main" val="1409743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898C4-D9D8-45FD-BE0B-A053AEAA50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5966822-F8B0-4BD0-9375-AC8C6E8CB9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03311F-C1D3-4429-8785-1F625AA1796A}"/>
              </a:ext>
            </a:extLst>
          </p:cNvPr>
          <p:cNvSpPr>
            <a:spLocks noGrp="1"/>
          </p:cNvSpPr>
          <p:nvPr>
            <p:ph type="dt" sz="half" idx="10"/>
          </p:nvPr>
        </p:nvSpPr>
        <p:spPr/>
        <p:txBody>
          <a:bodyPr/>
          <a:lstStyle/>
          <a:p>
            <a:fld id="{0B88CF53-55CD-4C45-8C36-D24F2ABC658C}" type="datetimeFigureOut">
              <a:rPr lang="en-IN" smtClean="0"/>
              <a:t>19-03-2026</a:t>
            </a:fld>
            <a:endParaRPr lang="en-IN"/>
          </a:p>
        </p:txBody>
      </p:sp>
      <p:sp>
        <p:nvSpPr>
          <p:cNvPr id="5" name="Footer Placeholder 4">
            <a:extLst>
              <a:ext uri="{FF2B5EF4-FFF2-40B4-BE49-F238E27FC236}">
                <a16:creationId xmlns:a16="http://schemas.microsoft.com/office/drawing/2014/main" id="{3E8CCAA2-9FED-4295-8301-436581ED6A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0AE1AD-43C1-4560-91FC-7BFEB4243991}"/>
              </a:ext>
            </a:extLst>
          </p:cNvPr>
          <p:cNvSpPr>
            <a:spLocks noGrp="1"/>
          </p:cNvSpPr>
          <p:nvPr>
            <p:ph type="sldNum" sz="quarter" idx="12"/>
          </p:nvPr>
        </p:nvSpPr>
        <p:spPr/>
        <p:txBody>
          <a:bodyPr/>
          <a:lstStyle/>
          <a:p>
            <a:fld id="{3DF56666-EF93-4340-8B1F-179DBF3058CC}" type="slidenum">
              <a:rPr lang="en-IN" smtClean="0"/>
              <a:t>‹#›</a:t>
            </a:fld>
            <a:endParaRPr lang="en-IN"/>
          </a:p>
        </p:txBody>
      </p:sp>
    </p:spTree>
    <p:extLst>
      <p:ext uri="{BB962C8B-B14F-4D97-AF65-F5344CB8AC3E}">
        <p14:creationId xmlns:p14="http://schemas.microsoft.com/office/powerpoint/2010/main" val="4236512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3519F-AB82-4042-8891-CB61E3D441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8379DA4-C550-4285-A1F1-8D964255EF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72BE58-F719-4B6C-8FE1-BCB5C9EA2AAE}"/>
              </a:ext>
            </a:extLst>
          </p:cNvPr>
          <p:cNvSpPr>
            <a:spLocks noGrp="1"/>
          </p:cNvSpPr>
          <p:nvPr>
            <p:ph type="dt" sz="half" idx="10"/>
          </p:nvPr>
        </p:nvSpPr>
        <p:spPr/>
        <p:txBody>
          <a:bodyPr/>
          <a:lstStyle/>
          <a:p>
            <a:fld id="{0B88CF53-55CD-4C45-8C36-D24F2ABC658C}" type="datetimeFigureOut">
              <a:rPr lang="en-IN" smtClean="0"/>
              <a:t>19-03-2026</a:t>
            </a:fld>
            <a:endParaRPr lang="en-IN"/>
          </a:p>
        </p:txBody>
      </p:sp>
      <p:sp>
        <p:nvSpPr>
          <p:cNvPr id="5" name="Footer Placeholder 4">
            <a:extLst>
              <a:ext uri="{FF2B5EF4-FFF2-40B4-BE49-F238E27FC236}">
                <a16:creationId xmlns:a16="http://schemas.microsoft.com/office/drawing/2014/main" id="{86BDBAF0-A3A7-48C2-AE4B-C09DDF3A4A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FBB575-F8C9-45F4-A8BB-64FEECCA635E}"/>
              </a:ext>
            </a:extLst>
          </p:cNvPr>
          <p:cNvSpPr>
            <a:spLocks noGrp="1"/>
          </p:cNvSpPr>
          <p:nvPr>
            <p:ph type="sldNum" sz="quarter" idx="12"/>
          </p:nvPr>
        </p:nvSpPr>
        <p:spPr/>
        <p:txBody>
          <a:bodyPr/>
          <a:lstStyle/>
          <a:p>
            <a:fld id="{3DF56666-EF93-4340-8B1F-179DBF3058CC}" type="slidenum">
              <a:rPr lang="en-IN" smtClean="0"/>
              <a:t>‹#›</a:t>
            </a:fld>
            <a:endParaRPr lang="en-IN"/>
          </a:p>
        </p:txBody>
      </p:sp>
    </p:spTree>
    <p:extLst>
      <p:ext uri="{BB962C8B-B14F-4D97-AF65-F5344CB8AC3E}">
        <p14:creationId xmlns:p14="http://schemas.microsoft.com/office/powerpoint/2010/main" val="2566663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953D4-EF97-430D-8872-27B2DCAEB4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2664B65-CA9A-4B74-B0AF-EE727FD55A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9FBE0A2-1FED-474E-BFA9-FB84B728C7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F895C61-6EF4-49CE-AFB1-643E5DFB1806}"/>
              </a:ext>
            </a:extLst>
          </p:cNvPr>
          <p:cNvSpPr>
            <a:spLocks noGrp="1"/>
          </p:cNvSpPr>
          <p:nvPr>
            <p:ph type="dt" sz="half" idx="10"/>
          </p:nvPr>
        </p:nvSpPr>
        <p:spPr/>
        <p:txBody>
          <a:bodyPr/>
          <a:lstStyle/>
          <a:p>
            <a:fld id="{0B88CF53-55CD-4C45-8C36-D24F2ABC658C}" type="datetimeFigureOut">
              <a:rPr lang="en-IN" smtClean="0"/>
              <a:t>19-03-2026</a:t>
            </a:fld>
            <a:endParaRPr lang="en-IN"/>
          </a:p>
        </p:txBody>
      </p:sp>
      <p:sp>
        <p:nvSpPr>
          <p:cNvPr id="6" name="Footer Placeholder 5">
            <a:extLst>
              <a:ext uri="{FF2B5EF4-FFF2-40B4-BE49-F238E27FC236}">
                <a16:creationId xmlns:a16="http://schemas.microsoft.com/office/drawing/2014/main" id="{A3EA5D96-21F1-4E09-91DE-8EDDF37AF9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28300A-7DF4-466B-A4CB-819DE3C480E6}"/>
              </a:ext>
            </a:extLst>
          </p:cNvPr>
          <p:cNvSpPr>
            <a:spLocks noGrp="1"/>
          </p:cNvSpPr>
          <p:nvPr>
            <p:ph type="sldNum" sz="quarter" idx="12"/>
          </p:nvPr>
        </p:nvSpPr>
        <p:spPr/>
        <p:txBody>
          <a:bodyPr/>
          <a:lstStyle/>
          <a:p>
            <a:fld id="{3DF56666-EF93-4340-8B1F-179DBF3058CC}" type="slidenum">
              <a:rPr lang="en-IN" smtClean="0"/>
              <a:t>‹#›</a:t>
            </a:fld>
            <a:endParaRPr lang="en-IN"/>
          </a:p>
        </p:txBody>
      </p:sp>
    </p:spTree>
    <p:extLst>
      <p:ext uri="{BB962C8B-B14F-4D97-AF65-F5344CB8AC3E}">
        <p14:creationId xmlns:p14="http://schemas.microsoft.com/office/powerpoint/2010/main" val="3448351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919D1-D7C3-429D-8652-91D22061F9B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BFE891-AC78-45E0-A8DF-D4154870D4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7AB4D7-D46A-4301-838D-9C97F86E20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6368761-9004-44D1-A76B-8D91BE0920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64FEFB-D1F1-4C42-BE69-3DA32FFF39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2688974-3122-4582-B0EB-71933F3F4DE9}"/>
              </a:ext>
            </a:extLst>
          </p:cNvPr>
          <p:cNvSpPr>
            <a:spLocks noGrp="1"/>
          </p:cNvSpPr>
          <p:nvPr>
            <p:ph type="dt" sz="half" idx="10"/>
          </p:nvPr>
        </p:nvSpPr>
        <p:spPr/>
        <p:txBody>
          <a:bodyPr/>
          <a:lstStyle/>
          <a:p>
            <a:fld id="{0B88CF53-55CD-4C45-8C36-D24F2ABC658C}" type="datetimeFigureOut">
              <a:rPr lang="en-IN" smtClean="0"/>
              <a:t>19-03-2026</a:t>
            </a:fld>
            <a:endParaRPr lang="en-IN"/>
          </a:p>
        </p:txBody>
      </p:sp>
      <p:sp>
        <p:nvSpPr>
          <p:cNvPr id="8" name="Footer Placeholder 7">
            <a:extLst>
              <a:ext uri="{FF2B5EF4-FFF2-40B4-BE49-F238E27FC236}">
                <a16:creationId xmlns:a16="http://schemas.microsoft.com/office/drawing/2014/main" id="{4C8F102B-EC6D-4DE9-983C-5B7A8B4A050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E864A04-0994-4C70-A20F-9A2864237D3D}"/>
              </a:ext>
            </a:extLst>
          </p:cNvPr>
          <p:cNvSpPr>
            <a:spLocks noGrp="1"/>
          </p:cNvSpPr>
          <p:nvPr>
            <p:ph type="sldNum" sz="quarter" idx="12"/>
          </p:nvPr>
        </p:nvSpPr>
        <p:spPr/>
        <p:txBody>
          <a:bodyPr/>
          <a:lstStyle/>
          <a:p>
            <a:fld id="{3DF56666-EF93-4340-8B1F-179DBF3058CC}" type="slidenum">
              <a:rPr lang="en-IN" smtClean="0"/>
              <a:t>‹#›</a:t>
            </a:fld>
            <a:endParaRPr lang="en-IN"/>
          </a:p>
        </p:txBody>
      </p:sp>
    </p:spTree>
    <p:extLst>
      <p:ext uri="{BB962C8B-B14F-4D97-AF65-F5344CB8AC3E}">
        <p14:creationId xmlns:p14="http://schemas.microsoft.com/office/powerpoint/2010/main" val="3632635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36F6B-A28F-48D7-B3C7-F88EA58F7B5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5975A1B-EB4B-4719-943D-B248B3F933F6}"/>
              </a:ext>
            </a:extLst>
          </p:cNvPr>
          <p:cNvSpPr>
            <a:spLocks noGrp="1"/>
          </p:cNvSpPr>
          <p:nvPr>
            <p:ph type="dt" sz="half" idx="10"/>
          </p:nvPr>
        </p:nvSpPr>
        <p:spPr/>
        <p:txBody>
          <a:bodyPr/>
          <a:lstStyle/>
          <a:p>
            <a:fld id="{0B88CF53-55CD-4C45-8C36-D24F2ABC658C}" type="datetimeFigureOut">
              <a:rPr lang="en-IN" smtClean="0"/>
              <a:t>19-03-2026</a:t>
            </a:fld>
            <a:endParaRPr lang="en-IN"/>
          </a:p>
        </p:txBody>
      </p:sp>
      <p:sp>
        <p:nvSpPr>
          <p:cNvPr id="4" name="Footer Placeholder 3">
            <a:extLst>
              <a:ext uri="{FF2B5EF4-FFF2-40B4-BE49-F238E27FC236}">
                <a16:creationId xmlns:a16="http://schemas.microsoft.com/office/drawing/2014/main" id="{AB47DBD2-F446-47D6-9471-B54DBAEE305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9EBC101-8B5C-47EC-977A-406908F2A65F}"/>
              </a:ext>
            </a:extLst>
          </p:cNvPr>
          <p:cNvSpPr>
            <a:spLocks noGrp="1"/>
          </p:cNvSpPr>
          <p:nvPr>
            <p:ph type="sldNum" sz="quarter" idx="12"/>
          </p:nvPr>
        </p:nvSpPr>
        <p:spPr/>
        <p:txBody>
          <a:bodyPr/>
          <a:lstStyle/>
          <a:p>
            <a:fld id="{3DF56666-EF93-4340-8B1F-179DBF3058CC}" type="slidenum">
              <a:rPr lang="en-IN" smtClean="0"/>
              <a:t>‹#›</a:t>
            </a:fld>
            <a:endParaRPr lang="en-IN"/>
          </a:p>
        </p:txBody>
      </p:sp>
    </p:spTree>
    <p:extLst>
      <p:ext uri="{BB962C8B-B14F-4D97-AF65-F5344CB8AC3E}">
        <p14:creationId xmlns:p14="http://schemas.microsoft.com/office/powerpoint/2010/main" val="3235446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9F9794-E0E0-45D5-9E11-2ED013C1BA68}"/>
              </a:ext>
            </a:extLst>
          </p:cNvPr>
          <p:cNvSpPr>
            <a:spLocks noGrp="1"/>
          </p:cNvSpPr>
          <p:nvPr>
            <p:ph type="dt" sz="half" idx="10"/>
          </p:nvPr>
        </p:nvSpPr>
        <p:spPr/>
        <p:txBody>
          <a:bodyPr/>
          <a:lstStyle/>
          <a:p>
            <a:fld id="{0B88CF53-55CD-4C45-8C36-D24F2ABC658C}" type="datetimeFigureOut">
              <a:rPr lang="en-IN" smtClean="0"/>
              <a:t>19-03-2026</a:t>
            </a:fld>
            <a:endParaRPr lang="en-IN"/>
          </a:p>
        </p:txBody>
      </p:sp>
      <p:sp>
        <p:nvSpPr>
          <p:cNvPr id="3" name="Footer Placeholder 2">
            <a:extLst>
              <a:ext uri="{FF2B5EF4-FFF2-40B4-BE49-F238E27FC236}">
                <a16:creationId xmlns:a16="http://schemas.microsoft.com/office/drawing/2014/main" id="{78ED62A2-FC44-4FDF-9AE6-C4224567B67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9D94403-FACC-43E5-B6A3-72D7161E6A1B}"/>
              </a:ext>
            </a:extLst>
          </p:cNvPr>
          <p:cNvSpPr>
            <a:spLocks noGrp="1"/>
          </p:cNvSpPr>
          <p:nvPr>
            <p:ph type="sldNum" sz="quarter" idx="12"/>
          </p:nvPr>
        </p:nvSpPr>
        <p:spPr/>
        <p:txBody>
          <a:bodyPr/>
          <a:lstStyle/>
          <a:p>
            <a:fld id="{3DF56666-EF93-4340-8B1F-179DBF3058CC}" type="slidenum">
              <a:rPr lang="en-IN" smtClean="0"/>
              <a:t>‹#›</a:t>
            </a:fld>
            <a:endParaRPr lang="en-IN"/>
          </a:p>
        </p:txBody>
      </p:sp>
    </p:spTree>
    <p:extLst>
      <p:ext uri="{BB962C8B-B14F-4D97-AF65-F5344CB8AC3E}">
        <p14:creationId xmlns:p14="http://schemas.microsoft.com/office/powerpoint/2010/main" val="3762426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EC605-488C-4C10-BCDB-3ECD69DAF6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CBEB42-8B67-49E8-9AA2-C63C0DF0DB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3FE8E8E-A6A2-4B2B-8EB5-142717CCD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ABDF9B-DF07-4B91-BDDC-E1AA1ABB338E}"/>
              </a:ext>
            </a:extLst>
          </p:cNvPr>
          <p:cNvSpPr>
            <a:spLocks noGrp="1"/>
          </p:cNvSpPr>
          <p:nvPr>
            <p:ph type="dt" sz="half" idx="10"/>
          </p:nvPr>
        </p:nvSpPr>
        <p:spPr/>
        <p:txBody>
          <a:bodyPr/>
          <a:lstStyle/>
          <a:p>
            <a:fld id="{0B88CF53-55CD-4C45-8C36-D24F2ABC658C}" type="datetimeFigureOut">
              <a:rPr lang="en-IN" smtClean="0"/>
              <a:t>19-03-2026</a:t>
            </a:fld>
            <a:endParaRPr lang="en-IN"/>
          </a:p>
        </p:txBody>
      </p:sp>
      <p:sp>
        <p:nvSpPr>
          <p:cNvPr id="6" name="Footer Placeholder 5">
            <a:extLst>
              <a:ext uri="{FF2B5EF4-FFF2-40B4-BE49-F238E27FC236}">
                <a16:creationId xmlns:a16="http://schemas.microsoft.com/office/drawing/2014/main" id="{FBD9A2E3-6476-4664-8169-FF265ABD2C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DA5E3D-F705-4522-8B9E-13DECC935E8C}"/>
              </a:ext>
            </a:extLst>
          </p:cNvPr>
          <p:cNvSpPr>
            <a:spLocks noGrp="1"/>
          </p:cNvSpPr>
          <p:nvPr>
            <p:ph type="sldNum" sz="quarter" idx="12"/>
          </p:nvPr>
        </p:nvSpPr>
        <p:spPr/>
        <p:txBody>
          <a:bodyPr/>
          <a:lstStyle/>
          <a:p>
            <a:fld id="{3DF56666-EF93-4340-8B1F-179DBF3058CC}" type="slidenum">
              <a:rPr lang="en-IN" smtClean="0"/>
              <a:t>‹#›</a:t>
            </a:fld>
            <a:endParaRPr lang="en-IN"/>
          </a:p>
        </p:txBody>
      </p:sp>
    </p:spTree>
    <p:extLst>
      <p:ext uri="{BB962C8B-B14F-4D97-AF65-F5344CB8AC3E}">
        <p14:creationId xmlns:p14="http://schemas.microsoft.com/office/powerpoint/2010/main" val="1006156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4D7EA-CAB3-47A4-BA92-55D81E47F5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4ADD4E7-063D-40AD-9A08-164D0819BD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5696917-D5BC-46FE-A58D-869349C015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DB8479-6B23-429D-AC0B-EA2D88274DB9}"/>
              </a:ext>
            </a:extLst>
          </p:cNvPr>
          <p:cNvSpPr>
            <a:spLocks noGrp="1"/>
          </p:cNvSpPr>
          <p:nvPr>
            <p:ph type="dt" sz="half" idx="10"/>
          </p:nvPr>
        </p:nvSpPr>
        <p:spPr/>
        <p:txBody>
          <a:bodyPr/>
          <a:lstStyle/>
          <a:p>
            <a:fld id="{0B88CF53-55CD-4C45-8C36-D24F2ABC658C}" type="datetimeFigureOut">
              <a:rPr lang="en-IN" smtClean="0"/>
              <a:t>19-03-2026</a:t>
            </a:fld>
            <a:endParaRPr lang="en-IN"/>
          </a:p>
        </p:txBody>
      </p:sp>
      <p:sp>
        <p:nvSpPr>
          <p:cNvPr id="6" name="Footer Placeholder 5">
            <a:extLst>
              <a:ext uri="{FF2B5EF4-FFF2-40B4-BE49-F238E27FC236}">
                <a16:creationId xmlns:a16="http://schemas.microsoft.com/office/drawing/2014/main" id="{B20347B5-58E1-437B-BB44-2C7AA2E0C2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E3146C-3A18-45EF-A8CC-D8047754DBFA}"/>
              </a:ext>
            </a:extLst>
          </p:cNvPr>
          <p:cNvSpPr>
            <a:spLocks noGrp="1"/>
          </p:cNvSpPr>
          <p:nvPr>
            <p:ph type="sldNum" sz="quarter" idx="12"/>
          </p:nvPr>
        </p:nvSpPr>
        <p:spPr/>
        <p:txBody>
          <a:bodyPr/>
          <a:lstStyle/>
          <a:p>
            <a:fld id="{3DF56666-EF93-4340-8B1F-179DBF3058CC}" type="slidenum">
              <a:rPr lang="en-IN" smtClean="0"/>
              <a:t>‹#›</a:t>
            </a:fld>
            <a:endParaRPr lang="en-IN"/>
          </a:p>
        </p:txBody>
      </p:sp>
    </p:spTree>
    <p:extLst>
      <p:ext uri="{BB962C8B-B14F-4D97-AF65-F5344CB8AC3E}">
        <p14:creationId xmlns:p14="http://schemas.microsoft.com/office/powerpoint/2010/main" val="1934037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7F0B6-F13A-4FEB-B60E-0A138AE5F4C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23BDC6F-664E-4642-A0F0-13CBD5C0B3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C82EF1-670A-46C7-A106-35F5F5BCAC0D}"/>
              </a:ext>
            </a:extLst>
          </p:cNvPr>
          <p:cNvSpPr>
            <a:spLocks noGrp="1"/>
          </p:cNvSpPr>
          <p:nvPr>
            <p:ph type="dt" sz="half" idx="10"/>
          </p:nvPr>
        </p:nvSpPr>
        <p:spPr/>
        <p:txBody>
          <a:bodyPr/>
          <a:lstStyle/>
          <a:p>
            <a:fld id="{0B88CF53-55CD-4C45-8C36-D24F2ABC658C}" type="datetimeFigureOut">
              <a:rPr lang="en-IN" smtClean="0"/>
              <a:t>19-03-2026</a:t>
            </a:fld>
            <a:endParaRPr lang="en-IN"/>
          </a:p>
        </p:txBody>
      </p:sp>
      <p:sp>
        <p:nvSpPr>
          <p:cNvPr id="5" name="Footer Placeholder 4">
            <a:extLst>
              <a:ext uri="{FF2B5EF4-FFF2-40B4-BE49-F238E27FC236}">
                <a16:creationId xmlns:a16="http://schemas.microsoft.com/office/drawing/2014/main" id="{474FCB56-C0CD-4084-9EF0-EE59EC41CA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DE30E0-4E97-461B-9748-B00BC2A5FCE4}"/>
              </a:ext>
            </a:extLst>
          </p:cNvPr>
          <p:cNvSpPr>
            <a:spLocks noGrp="1"/>
          </p:cNvSpPr>
          <p:nvPr>
            <p:ph type="sldNum" sz="quarter" idx="12"/>
          </p:nvPr>
        </p:nvSpPr>
        <p:spPr/>
        <p:txBody>
          <a:bodyPr/>
          <a:lstStyle/>
          <a:p>
            <a:fld id="{3DF56666-EF93-4340-8B1F-179DBF3058CC}" type="slidenum">
              <a:rPr lang="en-IN" smtClean="0"/>
              <a:t>‹#›</a:t>
            </a:fld>
            <a:endParaRPr lang="en-IN"/>
          </a:p>
        </p:txBody>
      </p:sp>
    </p:spTree>
    <p:extLst>
      <p:ext uri="{BB962C8B-B14F-4D97-AF65-F5344CB8AC3E}">
        <p14:creationId xmlns:p14="http://schemas.microsoft.com/office/powerpoint/2010/main" val="1951074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AAEC57-3F54-44C3-8186-4F6C88FFECE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19A458-BFBD-4C9D-8C34-9AF2A7990D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94993C-B28D-4310-9DDC-554B6B7C1FE6}"/>
              </a:ext>
            </a:extLst>
          </p:cNvPr>
          <p:cNvSpPr>
            <a:spLocks noGrp="1"/>
          </p:cNvSpPr>
          <p:nvPr>
            <p:ph type="dt" sz="half" idx="10"/>
          </p:nvPr>
        </p:nvSpPr>
        <p:spPr/>
        <p:txBody>
          <a:bodyPr/>
          <a:lstStyle/>
          <a:p>
            <a:fld id="{0B88CF53-55CD-4C45-8C36-D24F2ABC658C}" type="datetimeFigureOut">
              <a:rPr lang="en-IN" smtClean="0"/>
              <a:t>19-03-2026</a:t>
            </a:fld>
            <a:endParaRPr lang="en-IN"/>
          </a:p>
        </p:txBody>
      </p:sp>
      <p:sp>
        <p:nvSpPr>
          <p:cNvPr id="5" name="Footer Placeholder 4">
            <a:extLst>
              <a:ext uri="{FF2B5EF4-FFF2-40B4-BE49-F238E27FC236}">
                <a16:creationId xmlns:a16="http://schemas.microsoft.com/office/drawing/2014/main" id="{8C066302-E25B-4C79-9E12-BCE0D27270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CBBECD-632F-48CA-B63B-247BE8ED5373}"/>
              </a:ext>
            </a:extLst>
          </p:cNvPr>
          <p:cNvSpPr>
            <a:spLocks noGrp="1"/>
          </p:cNvSpPr>
          <p:nvPr>
            <p:ph type="sldNum" sz="quarter" idx="12"/>
          </p:nvPr>
        </p:nvSpPr>
        <p:spPr/>
        <p:txBody>
          <a:bodyPr/>
          <a:lstStyle/>
          <a:p>
            <a:fld id="{3DF56666-EF93-4340-8B1F-179DBF3058CC}" type="slidenum">
              <a:rPr lang="en-IN" smtClean="0"/>
              <a:t>‹#›</a:t>
            </a:fld>
            <a:endParaRPr lang="en-IN"/>
          </a:p>
        </p:txBody>
      </p:sp>
    </p:spTree>
    <p:extLst>
      <p:ext uri="{BB962C8B-B14F-4D97-AF65-F5344CB8AC3E}">
        <p14:creationId xmlns:p14="http://schemas.microsoft.com/office/powerpoint/2010/main" val="1285816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9EDAD8-0214-4749-B76C-CFD7593896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421E247-4BC4-44A1-8AAC-1AE0EC7F77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31DAFC-2B80-4D66-876F-6D1EF11A24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88CF53-55CD-4C45-8C36-D24F2ABC658C}" type="datetimeFigureOut">
              <a:rPr lang="en-IN" smtClean="0"/>
              <a:t>19-03-2026</a:t>
            </a:fld>
            <a:endParaRPr lang="en-IN"/>
          </a:p>
        </p:txBody>
      </p:sp>
      <p:sp>
        <p:nvSpPr>
          <p:cNvPr id="5" name="Footer Placeholder 4">
            <a:extLst>
              <a:ext uri="{FF2B5EF4-FFF2-40B4-BE49-F238E27FC236}">
                <a16:creationId xmlns:a16="http://schemas.microsoft.com/office/drawing/2014/main" id="{58DF2D48-C489-4AA9-B0A7-4A994F3E3E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C8C3BF-865E-4BBC-83AF-49690003B6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F56666-EF93-4340-8B1F-179DBF3058CC}" type="slidenum">
              <a:rPr lang="en-IN" smtClean="0"/>
              <a:t>‹#›</a:t>
            </a:fld>
            <a:endParaRPr lang="en-IN"/>
          </a:p>
        </p:txBody>
      </p:sp>
    </p:spTree>
    <p:extLst>
      <p:ext uri="{BB962C8B-B14F-4D97-AF65-F5344CB8AC3E}">
        <p14:creationId xmlns:p14="http://schemas.microsoft.com/office/powerpoint/2010/main" val="25250740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ieeexplore.ieee.org/document/11295921/" TargetMode="External"/><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hyperlink" Target="https://www.researchgate.net/publication/224643624_Unbalanced_Distribution_Power_Flow_with_Distributed_Generation"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5742E-BA88-4485-B4FF-2505FE5EE4D8}"/>
              </a:ext>
            </a:extLst>
          </p:cNvPr>
          <p:cNvSpPr>
            <a:spLocks noGrp="1"/>
          </p:cNvSpPr>
          <p:nvPr>
            <p:ph type="ctrTitle"/>
          </p:nvPr>
        </p:nvSpPr>
        <p:spPr>
          <a:xfrm>
            <a:off x="603828" y="2596806"/>
            <a:ext cx="11332634" cy="1180778"/>
          </a:xfrm>
        </p:spPr>
        <p:txBody>
          <a:bodyPr>
            <a:noAutofit/>
          </a:bodyPr>
          <a:lstStyle/>
          <a:p>
            <a:r>
              <a:rPr lang="en-IN" sz="4000" b="1" dirty="0">
                <a:latin typeface="Segoe UI Variable Text Semibold" pitchFamily="2" charset="0"/>
              </a:rPr>
              <a:t>MODELING AND ANALYSIS OF IEEE 13 BUS UNBALANCED DISTRIBUTION SYSTEM USING OPENDSS</a:t>
            </a:r>
          </a:p>
        </p:txBody>
      </p:sp>
      <p:sp>
        <p:nvSpPr>
          <p:cNvPr id="5" name="TextBox 4">
            <a:extLst>
              <a:ext uri="{FF2B5EF4-FFF2-40B4-BE49-F238E27FC236}">
                <a16:creationId xmlns:a16="http://schemas.microsoft.com/office/drawing/2014/main" id="{C14CA00B-8DDD-4BD8-AC92-ECA176B3DA32}"/>
              </a:ext>
            </a:extLst>
          </p:cNvPr>
          <p:cNvSpPr txBox="1"/>
          <p:nvPr/>
        </p:nvSpPr>
        <p:spPr>
          <a:xfrm>
            <a:off x="1430868" y="4726798"/>
            <a:ext cx="3132667" cy="1408078"/>
          </a:xfrm>
          <a:prstGeom prst="rect">
            <a:avLst/>
          </a:prstGeom>
          <a:noFill/>
        </p:spPr>
        <p:txBody>
          <a:bodyPr wrap="square">
            <a:spAutoFit/>
          </a:bodyPr>
          <a:lstStyle/>
          <a:p>
            <a:pPr marL="12700">
              <a:lnSpc>
                <a:spcPct val="100000"/>
              </a:lnSpc>
              <a:spcBef>
                <a:spcPts val="1285"/>
              </a:spcBef>
            </a:pPr>
            <a:r>
              <a:rPr lang="en-US" sz="2000" b="1" dirty="0">
                <a:solidFill>
                  <a:srgbClr val="040404"/>
                </a:solidFill>
                <a:latin typeface="Segoe UI Variable Text Semibold" pitchFamily="2" charset="0"/>
                <a:ea typeface="Tahoma" panose="020B0604030504040204" pitchFamily="34" charset="0"/>
                <a:cs typeface="Tahoma" panose="020B0604030504040204" pitchFamily="34" charset="0"/>
              </a:rPr>
              <a:t>TEAM MEMBERS:</a:t>
            </a:r>
            <a:endParaRPr lang="en-US" sz="2000" b="1" dirty="0">
              <a:latin typeface="Segoe UI Variable Text Semibold" pitchFamily="2" charset="0"/>
              <a:ea typeface="Tahoma" panose="020B0604030504040204" pitchFamily="34" charset="0"/>
              <a:cs typeface="Tahoma" panose="020B0604030504040204" pitchFamily="34" charset="0"/>
            </a:endParaRPr>
          </a:p>
          <a:p>
            <a:pPr marL="431165" indent="-288925">
              <a:lnSpc>
                <a:spcPct val="100000"/>
              </a:lnSpc>
              <a:spcBef>
                <a:spcPts val="940"/>
              </a:spcBef>
              <a:buAutoNum type="arabicPeriod"/>
              <a:tabLst>
                <a:tab pos="431165" algn="l"/>
              </a:tabLst>
            </a:pPr>
            <a:r>
              <a:rPr lang="en-US" sz="1600" b="1" dirty="0">
                <a:solidFill>
                  <a:srgbClr val="040404"/>
                </a:solidFill>
                <a:latin typeface="Segoe UI Variable Text Semibold" pitchFamily="2" charset="0"/>
                <a:ea typeface="Tahoma" panose="020B0604030504040204" pitchFamily="34" charset="0"/>
                <a:cs typeface="Tahoma" panose="020B0604030504040204" pitchFamily="34" charset="0"/>
              </a:rPr>
              <a:t>DINESH GOVIND G C</a:t>
            </a:r>
            <a:endParaRPr lang="en-US" sz="1600" b="1" dirty="0">
              <a:latin typeface="Segoe UI Variable Text Semibold" pitchFamily="2" charset="0"/>
              <a:ea typeface="Tahoma" panose="020B0604030504040204" pitchFamily="34" charset="0"/>
              <a:cs typeface="Tahoma" panose="020B0604030504040204" pitchFamily="34" charset="0"/>
            </a:endParaRPr>
          </a:p>
          <a:p>
            <a:pPr marL="431165" indent="-288925">
              <a:lnSpc>
                <a:spcPct val="100000"/>
              </a:lnSpc>
              <a:spcBef>
                <a:spcPts val="570"/>
              </a:spcBef>
              <a:buAutoNum type="arabicPeriod"/>
              <a:tabLst>
                <a:tab pos="431165" algn="l"/>
              </a:tabLst>
            </a:pPr>
            <a:r>
              <a:rPr lang="en-US" sz="1600" b="1" dirty="0">
                <a:solidFill>
                  <a:srgbClr val="040404"/>
                </a:solidFill>
                <a:latin typeface="Segoe UI Variable Text Semibold" pitchFamily="2" charset="0"/>
                <a:ea typeface="Tahoma" panose="020B0604030504040204" pitchFamily="34" charset="0"/>
                <a:cs typeface="Tahoma" panose="020B0604030504040204" pitchFamily="34" charset="0"/>
              </a:rPr>
              <a:t>AKASH S</a:t>
            </a:r>
            <a:endParaRPr lang="en-US" sz="1600" b="1" dirty="0">
              <a:latin typeface="Segoe UI Variable Text Semibold" pitchFamily="2" charset="0"/>
              <a:ea typeface="Tahoma" panose="020B0604030504040204" pitchFamily="34" charset="0"/>
              <a:cs typeface="Tahoma" panose="020B0604030504040204" pitchFamily="34" charset="0"/>
            </a:endParaRPr>
          </a:p>
          <a:p>
            <a:pPr marL="431165" indent="-288925">
              <a:lnSpc>
                <a:spcPct val="100000"/>
              </a:lnSpc>
              <a:spcBef>
                <a:spcPts val="570"/>
              </a:spcBef>
              <a:buAutoNum type="arabicPeriod"/>
              <a:tabLst>
                <a:tab pos="431165" algn="l"/>
              </a:tabLst>
            </a:pPr>
            <a:r>
              <a:rPr lang="en-US" sz="1600" b="1" dirty="0">
                <a:solidFill>
                  <a:srgbClr val="040404"/>
                </a:solidFill>
                <a:latin typeface="Segoe UI Variable Text Semibold" pitchFamily="2" charset="0"/>
                <a:ea typeface="Tahoma" panose="020B0604030504040204" pitchFamily="34" charset="0"/>
                <a:cs typeface="Tahoma" panose="020B0604030504040204" pitchFamily="34" charset="0"/>
              </a:rPr>
              <a:t>ADHITYA A V</a:t>
            </a:r>
            <a:endParaRPr lang="en-US" sz="1600" b="1" dirty="0">
              <a:latin typeface="Segoe UI Variable Text Semibold" pitchFamily="2" charset="0"/>
              <a:ea typeface="Tahoma" panose="020B0604030504040204" pitchFamily="34" charset="0"/>
              <a:cs typeface="Tahoma" panose="020B0604030504040204" pitchFamily="34" charset="0"/>
            </a:endParaRPr>
          </a:p>
        </p:txBody>
      </p:sp>
      <p:sp>
        <p:nvSpPr>
          <p:cNvPr id="7" name="TextBox 6">
            <a:extLst>
              <a:ext uri="{FF2B5EF4-FFF2-40B4-BE49-F238E27FC236}">
                <a16:creationId xmlns:a16="http://schemas.microsoft.com/office/drawing/2014/main" id="{088316CE-9E74-42B0-82F6-89812FBFFF16}"/>
              </a:ext>
            </a:extLst>
          </p:cNvPr>
          <p:cNvSpPr txBox="1"/>
          <p:nvPr/>
        </p:nvSpPr>
        <p:spPr>
          <a:xfrm>
            <a:off x="7961302" y="4726798"/>
            <a:ext cx="3726931" cy="1069524"/>
          </a:xfrm>
          <a:prstGeom prst="rect">
            <a:avLst/>
          </a:prstGeom>
          <a:noFill/>
        </p:spPr>
        <p:txBody>
          <a:bodyPr wrap="square">
            <a:spAutoFit/>
          </a:bodyPr>
          <a:lstStyle/>
          <a:p>
            <a:pPr marL="12700">
              <a:lnSpc>
                <a:spcPct val="100000"/>
              </a:lnSpc>
              <a:spcBef>
                <a:spcPts val="640"/>
              </a:spcBef>
            </a:pPr>
            <a:r>
              <a:rPr lang="en-IN" sz="2000" b="1" dirty="0">
                <a:solidFill>
                  <a:srgbClr val="040404"/>
                </a:solidFill>
                <a:latin typeface="Segoe UI Variable Text Semibold" pitchFamily="2" charset="0"/>
                <a:ea typeface="Tahoma" panose="020B0604030504040204" pitchFamily="34" charset="0"/>
                <a:cs typeface="Tahoma" panose="020B0604030504040204" pitchFamily="34" charset="0"/>
              </a:rPr>
              <a:t>GUIDED BY:</a:t>
            </a:r>
            <a:endParaRPr lang="en-IN" sz="2000" b="1" dirty="0">
              <a:latin typeface="Segoe UI Variable Text Semibold" pitchFamily="2" charset="0"/>
              <a:ea typeface="Tahoma" panose="020B0604030504040204" pitchFamily="34" charset="0"/>
              <a:cs typeface="Tahoma" panose="020B0604030504040204" pitchFamily="34" charset="0"/>
            </a:endParaRPr>
          </a:p>
          <a:p>
            <a:pPr marL="12700">
              <a:lnSpc>
                <a:spcPct val="100000"/>
              </a:lnSpc>
              <a:spcBef>
                <a:spcPts val="520"/>
              </a:spcBef>
            </a:pPr>
            <a:r>
              <a:rPr lang="en-IN" sz="1800" b="1" dirty="0">
                <a:solidFill>
                  <a:srgbClr val="040404"/>
                </a:solidFill>
                <a:latin typeface="Segoe UI Variable Text Semibold" pitchFamily="2" charset="0"/>
                <a:ea typeface="Tahoma" panose="020B0604030504040204" pitchFamily="34" charset="0"/>
                <a:cs typeface="Tahoma" panose="020B0604030504040204" pitchFamily="34" charset="0"/>
              </a:rPr>
              <a:t>Sr. Asst. Professor</a:t>
            </a:r>
            <a:endParaRPr lang="en-IN" sz="1800" b="1" dirty="0">
              <a:latin typeface="Segoe UI Variable Text Semibold" pitchFamily="2" charset="0"/>
              <a:ea typeface="Tahoma" panose="020B0604030504040204" pitchFamily="34" charset="0"/>
              <a:cs typeface="Tahoma" panose="020B0604030504040204" pitchFamily="34" charset="0"/>
            </a:endParaRPr>
          </a:p>
          <a:p>
            <a:pPr marL="12700">
              <a:lnSpc>
                <a:spcPct val="100000"/>
              </a:lnSpc>
              <a:spcBef>
                <a:spcPts val="390"/>
              </a:spcBef>
            </a:pPr>
            <a:r>
              <a:rPr lang="en-IN" sz="1800" b="1" dirty="0" err="1">
                <a:solidFill>
                  <a:srgbClr val="040404"/>
                </a:solidFill>
                <a:latin typeface="Segoe UI Variable Text Semibold" pitchFamily="2" charset="0"/>
                <a:ea typeface="Tahoma" panose="020B0604030504040204" pitchFamily="34" charset="0"/>
                <a:cs typeface="Tahoma" panose="020B0604030504040204" pitchFamily="34" charset="0"/>
              </a:rPr>
              <a:t>Dr.</a:t>
            </a:r>
            <a:r>
              <a:rPr lang="en-IN" sz="1800" b="1" dirty="0">
                <a:solidFill>
                  <a:srgbClr val="040404"/>
                </a:solidFill>
                <a:latin typeface="Segoe UI Variable Text Semibold" pitchFamily="2" charset="0"/>
                <a:ea typeface="Tahoma" panose="020B0604030504040204" pitchFamily="34" charset="0"/>
                <a:cs typeface="Tahoma" panose="020B0604030504040204" pitchFamily="34" charset="0"/>
              </a:rPr>
              <a:t> KARTHIKAIKANNAN D</a:t>
            </a:r>
            <a:endParaRPr lang="en-IN" sz="1800" b="1" dirty="0">
              <a:latin typeface="Segoe UI Variable Text Semibold" pitchFamily="2" charset="0"/>
              <a:ea typeface="Tahoma" panose="020B0604030504040204" pitchFamily="34" charset="0"/>
              <a:cs typeface="Tahoma" panose="020B0604030504040204" pitchFamily="34" charset="0"/>
            </a:endParaRPr>
          </a:p>
        </p:txBody>
      </p:sp>
      <p:pic>
        <p:nvPicPr>
          <p:cNvPr id="11" name="object 3">
            <a:extLst>
              <a:ext uri="{FF2B5EF4-FFF2-40B4-BE49-F238E27FC236}">
                <a16:creationId xmlns:a16="http://schemas.microsoft.com/office/drawing/2014/main" id="{6E2C291A-2605-43E6-82B7-F7242884C477}"/>
              </a:ext>
            </a:extLst>
          </p:cNvPr>
          <p:cNvPicPr/>
          <p:nvPr/>
        </p:nvPicPr>
        <p:blipFill>
          <a:blip r:embed="rId2" cstate="print"/>
          <a:stretch>
            <a:fillRect/>
          </a:stretch>
        </p:blipFill>
        <p:spPr>
          <a:xfrm>
            <a:off x="3613251" y="115802"/>
            <a:ext cx="4982430" cy="1180778"/>
          </a:xfrm>
          <a:prstGeom prst="rect">
            <a:avLst/>
          </a:prstGeom>
        </p:spPr>
      </p:pic>
    </p:spTree>
    <p:extLst>
      <p:ext uri="{BB962C8B-B14F-4D97-AF65-F5344CB8AC3E}">
        <p14:creationId xmlns:p14="http://schemas.microsoft.com/office/powerpoint/2010/main" val="2581766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C0892-1337-48E6-9C34-C0FB7BA267FD}"/>
              </a:ext>
            </a:extLst>
          </p:cNvPr>
          <p:cNvSpPr>
            <a:spLocks noGrp="1"/>
          </p:cNvSpPr>
          <p:nvPr>
            <p:ph type="title"/>
          </p:nvPr>
        </p:nvSpPr>
        <p:spPr>
          <a:xfrm>
            <a:off x="472554" y="270015"/>
            <a:ext cx="10515600" cy="1325563"/>
          </a:xfrm>
        </p:spPr>
        <p:txBody>
          <a:bodyPr>
            <a:normAutofit/>
          </a:bodyPr>
          <a:lstStyle/>
          <a:p>
            <a:pPr algn="just"/>
            <a:r>
              <a:rPr lang="en-IN" sz="3600" b="1" dirty="0">
                <a:latin typeface="Segoe UI Variable Display" pitchFamily="2" charset="0"/>
                <a:ea typeface="Tahoma" panose="020B0604030504040204" pitchFamily="34" charset="0"/>
                <a:cs typeface="Tahoma" panose="020B0604030504040204" pitchFamily="34" charset="0"/>
              </a:rPr>
              <a:t>ABSTRACT</a:t>
            </a:r>
            <a:endParaRPr lang="en-IN" sz="3600" dirty="0">
              <a:latin typeface="Segoe UI Variable Display" pitchFamily="2" charset="0"/>
            </a:endParaRPr>
          </a:p>
        </p:txBody>
      </p:sp>
      <p:sp>
        <p:nvSpPr>
          <p:cNvPr id="3" name="Content Placeholder 2">
            <a:extLst>
              <a:ext uri="{FF2B5EF4-FFF2-40B4-BE49-F238E27FC236}">
                <a16:creationId xmlns:a16="http://schemas.microsoft.com/office/drawing/2014/main" id="{5213D149-1726-42D3-98DA-143E07F30227}"/>
              </a:ext>
            </a:extLst>
          </p:cNvPr>
          <p:cNvSpPr>
            <a:spLocks noGrp="1"/>
          </p:cNvSpPr>
          <p:nvPr>
            <p:ph idx="1"/>
          </p:nvPr>
        </p:nvSpPr>
        <p:spPr>
          <a:xfrm>
            <a:off x="787399" y="1776444"/>
            <a:ext cx="10617200" cy="3445144"/>
          </a:xfrm>
        </p:spPr>
        <p:txBody>
          <a:bodyPr>
            <a:normAutofit/>
          </a:bodyPr>
          <a:lstStyle/>
          <a:p>
            <a:pPr marL="0" indent="0" algn="just">
              <a:buNone/>
            </a:pPr>
            <a:r>
              <a:rPr lang="en-IN" sz="2400" dirty="0">
                <a:latin typeface="Segoe UI Variable Display" pitchFamily="2" charset="0"/>
              </a:rPr>
              <a:t>            </a:t>
            </a:r>
            <a:r>
              <a:rPr lang="en-US" sz="2400" dirty="0">
                <a:latin typeface="Segoe UI Variable Display" pitchFamily="2" charset="0"/>
              </a:rPr>
              <a:t>In this work we analyze and compare the </a:t>
            </a:r>
            <a:r>
              <a:rPr lang="en-US" sz="2400" b="0" i="0" dirty="0">
                <a:effectLst/>
                <a:latin typeface="Segoe UI Variable Display" pitchFamily="2" charset="0"/>
              </a:rPr>
              <a:t>p.u. voltage profile, </a:t>
            </a:r>
            <a:r>
              <a:rPr lang="en-US" sz="2400" dirty="0">
                <a:latin typeface="Segoe UI Variable Display" pitchFamily="2" charset="0"/>
              </a:rPr>
              <a:t>P and Q - power </a:t>
            </a:r>
            <a:r>
              <a:rPr lang="en-US" sz="2400" b="0" i="0" dirty="0">
                <a:effectLst/>
                <a:latin typeface="Segoe UI Variable Display" pitchFamily="2" charset="0"/>
              </a:rPr>
              <a:t>losses of elements connected in system and the power flow between the buses and transformers in the IEEE 13-Bus distribution system </a:t>
            </a:r>
            <a:r>
              <a:rPr lang="en-US" sz="2400" dirty="0">
                <a:latin typeface="Segoe UI Variable Display" pitchFamily="2" charset="0"/>
              </a:rPr>
              <a:t>by taking both the IEEE standard benchmark data and the system with the addition of loads and capacitors. Here we map how the per phase P.U voltages , power loss change after the alteration in the existing system elements.</a:t>
            </a:r>
            <a:endParaRPr lang="en-US" sz="2400" b="0" i="0" dirty="0">
              <a:effectLst/>
              <a:latin typeface="Segoe UI Variable Display" pitchFamily="2" charset="0"/>
            </a:endParaRPr>
          </a:p>
        </p:txBody>
      </p:sp>
      <p:pic>
        <p:nvPicPr>
          <p:cNvPr id="1028" name="Picture 4" descr="SASTRA University (@SASTRA_Univ ...">
            <a:extLst>
              <a:ext uri="{FF2B5EF4-FFF2-40B4-BE49-F238E27FC236}">
                <a16:creationId xmlns:a16="http://schemas.microsoft.com/office/drawing/2014/main" id="{ADCD94D7-6F03-40FC-B153-83F3CCC51E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5385" y="216429"/>
            <a:ext cx="876830" cy="876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5404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E1824-8617-449C-B84E-A7DFADEEFB5B}"/>
              </a:ext>
            </a:extLst>
          </p:cNvPr>
          <p:cNvSpPr>
            <a:spLocks noGrp="1"/>
          </p:cNvSpPr>
          <p:nvPr>
            <p:ph type="title"/>
          </p:nvPr>
        </p:nvSpPr>
        <p:spPr>
          <a:xfrm>
            <a:off x="567698" y="182562"/>
            <a:ext cx="10515600" cy="1325563"/>
          </a:xfrm>
        </p:spPr>
        <p:txBody>
          <a:bodyPr>
            <a:normAutofit/>
          </a:bodyPr>
          <a:lstStyle/>
          <a:p>
            <a:r>
              <a:rPr lang="en-IN" sz="3600" b="1" dirty="0">
                <a:latin typeface="Segoe UI Variable Display" pitchFamily="2" charset="0"/>
              </a:rPr>
              <a:t>AIM</a:t>
            </a:r>
          </a:p>
        </p:txBody>
      </p:sp>
      <p:sp>
        <p:nvSpPr>
          <p:cNvPr id="3" name="Content Placeholder 2">
            <a:extLst>
              <a:ext uri="{FF2B5EF4-FFF2-40B4-BE49-F238E27FC236}">
                <a16:creationId xmlns:a16="http://schemas.microsoft.com/office/drawing/2014/main" id="{7939BA52-41E0-498E-A76E-57D2D6152749}"/>
              </a:ext>
            </a:extLst>
          </p:cNvPr>
          <p:cNvSpPr>
            <a:spLocks noGrp="1"/>
          </p:cNvSpPr>
          <p:nvPr>
            <p:ph idx="1"/>
          </p:nvPr>
        </p:nvSpPr>
        <p:spPr>
          <a:xfrm>
            <a:off x="838200" y="1834091"/>
            <a:ext cx="10515600" cy="4168775"/>
          </a:xfrm>
        </p:spPr>
        <p:txBody>
          <a:bodyPr>
            <a:normAutofit/>
          </a:bodyPr>
          <a:lstStyle/>
          <a:p>
            <a:pPr marL="0" indent="0" algn="just">
              <a:buNone/>
            </a:pPr>
            <a:r>
              <a:rPr lang="en-IN" sz="2400" dirty="0">
                <a:latin typeface="Segoe UI Variable Display" pitchFamily="2" charset="0"/>
              </a:rPr>
              <a:t>       The main goal of this work to </a:t>
            </a:r>
            <a:r>
              <a:rPr lang="en-IN" sz="2400" dirty="0" err="1">
                <a:latin typeface="Segoe UI Variable Display" pitchFamily="2" charset="0"/>
              </a:rPr>
              <a:t>analyze</a:t>
            </a:r>
            <a:r>
              <a:rPr lang="en-IN" sz="2400" dirty="0">
                <a:latin typeface="Segoe UI Variable Display" pitchFamily="2" charset="0"/>
              </a:rPr>
              <a:t> how P.U Voltage balances and power loss reduces with the addition of loads and capacitors to the existing standard load flow data of IEEE 13 Bus Distribution System. We add compensation capacitors and realistic loads to make the system - balanced, efficient </a:t>
            </a:r>
            <a:r>
              <a:rPr lang="en-IN" sz="2400" b="1" dirty="0">
                <a:latin typeface="Segoe UI Variable Display" pitchFamily="2" charset="0"/>
              </a:rPr>
              <a:t>if there is a possibility of inclusion of new loads under real rural domestic conditions.</a:t>
            </a:r>
            <a:endParaRPr lang="en-IN" sz="2400" dirty="0">
              <a:latin typeface="Segoe UI Variable Display" pitchFamily="2" charset="0"/>
            </a:endParaRPr>
          </a:p>
        </p:txBody>
      </p:sp>
      <p:pic>
        <p:nvPicPr>
          <p:cNvPr id="5" name="Picture 4" descr="SASTRA University (@SASTRA_Univ ...">
            <a:extLst>
              <a:ext uri="{FF2B5EF4-FFF2-40B4-BE49-F238E27FC236}">
                <a16:creationId xmlns:a16="http://schemas.microsoft.com/office/drawing/2014/main" id="{F6700871-87E0-4555-A685-5518954133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3852" y="233362"/>
            <a:ext cx="876830" cy="8768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SASTRA University (@SASTRA_Univ ...">
            <a:extLst>
              <a:ext uri="{FF2B5EF4-FFF2-40B4-BE49-F238E27FC236}">
                <a16:creationId xmlns:a16="http://schemas.microsoft.com/office/drawing/2014/main" id="{BC0D2614-F149-4622-9A43-34DB46110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3852" y="216429"/>
            <a:ext cx="876830" cy="876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8405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SASTRA University (@SASTRA_Univ ...">
            <a:extLst>
              <a:ext uri="{FF2B5EF4-FFF2-40B4-BE49-F238E27FC236}">
                <a16:creationId xmlns:a16="http://schemas.microsoft.com/office/drawing/2014/main" id="{CA5BF5A6-69BD-49AE-B915-212F3CFA26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5385" y="200230"/>
            <a:ext cx="876830" cy="876830"/>
          </a:xfrm>
          <a:prstGeom prst="rect">
            <a:avLst/>
          </a:prstGeom>
          <a:noFill/>
          <a:extLst>
            <a:ext uri="{909E8E84-426E-40DD-AFC4-6F175D3DCCD1}">
              <a14:hiddenFill xmlns:a14="http://schemas.microsoft.com/office/drawing/2010/main">
                <a:solidFill>
                  <a:srgbClr val="FFFFFF"/>
                </a:solidFill>
              </a14:hiddenFill>
            </a:ext>
          </a:extLst>
        </p:spPr>
      </p:pic>
      <p:sp>
        <p:nvSpPr>
          <p:cNvPr id="10" name="object 2">
            <a:extLst>
              <a:ext uri="{FF2B5EF4-FFF2-40B4-BE49-F238E27FC236}">
                <a16:creationId xmlns:a16="http://schemas.microsoft.com/office/drawing/2014/main" id="{971C6B31-2E90-4547-A782-85B7918772BC}"/>
              </a:ext>
            </a:extLst>
          </p:cNvPr>
          <p:cNvSpPr txBox="1">
            <a:spLocks noGrp="1"/>
          </p:cNvSpPr>
          <p:nvPr>
            <p:ph type="title"/>
          </p:nvPr>
        </p:nvSpPr>
        <p:spPr>
          <a:xfrm>
            <a:off x="529225" y="428883"/>
            <a:ext cx="6261540" cy="566822"/>
          </a:xfrm>
          <a:prstGeom prst="rect">
            <a:avLst/>
          </a:prstGeom>
        </p:spPr>
        <p:txBody>
          <a:bodyPr vert="horz" wrap="square" lIns="0" tIns="12700" rIns="0" bIns="0" rtlCol="0">
            <a:spAutoFit/>
          </a:bodyPr>
          <a:lstStyle/>
          <a:p>
            <a:pPr marL="12700" algn="just">
              <a:lnSpc>
                <a:spcPct val="100000"/>
              </a:lnSpc>
              <a:spcBef>
                <a:spcPts val="100"/>
              </a:spcBef>
            </a:pPr>
            <a:r>
              <a:rPr sz="3600" b="1" dirty="0">
                <a:latin typeface="Segoe UI Variable Display" pitchFamily="2" charset="0"/>
                <a:ea typeface="Tahoma" panose="020B0604030504040204" pitchFamily="34" charset="0"/>
                <a:cs typeface="Tahoma" panose="020B0604030504040204" pitchFamily="34" charset="0"/>
              </a:rPr>
              <a:t>LITERATURE REVIEW</a:t>
            </a:r>
          </a:p>
        </p:txBody>
      </p:sp>
      <p:graphicFrame>
        <p:nvGraphicFramePr>
          <p:cNvPr id="4" name="Table 4">
            <a:extLst>
              <a:ext uri="{FF2B5EF4-FFF2-40B4-BE49-F238E27FC236}">
                <a16:creationId xmlns:a16="http://schemas.microsoft.com/office/drawing/2014/main" id="{3475A827-6D0E-45E4-9DB2-A6D11936F7A3}"/>
              </a:ext>
            </a:extLst>
          </p:cNvPr>
          <p:cNvGraphicFramePr>
            <a:graphicFrameLocks noGrp="1"/>
          </p:cNvGraphicFramePr>
          <p:nvPr>
            <p:extLst>
              <p:ext uri="{D42A27DB-BD31-4B8C-83A1-F6EECF244321}">
                <p14:modId xmlns:p14="http://schemas.microsoft.com/office/powerpoint/2010/main" val="4211921958"/>
              </p:ext>
            </p:extLst>
          </p:nvPr>
        </p:nvGraphicFramePr>
        <p:xfrm>
          <a:off x="1320801" y="1314243"/>
          <a:ext cx="9254064" cy="5114874"/>
        </p:xfrm>
        <a:graphic>
          <a:graphicData uri="http://schemas.openxmlformats.org/drawingml/2006/table">
            <a:tbl>
              <a:tblPr firstRow="1" bandRow="1">
                <a:tableStyleId>{5C22544A-7EE6-4342-B048-85BDC9FD1C3A}</a:tableStyleId>
              </a:tblPr>
              <a:tblGrid>
                <a:gridCol w="3084688">
                  <a:extLst>
                    <a:ext uri="{9D8B030D-6E8A-4147-A177-3AD203B41FA5}">
                      <a16:colId xmlns:a16="http://schemas.microsoft.com/office/drawing/2014/main" val="2630537602"/>
                    </a:ext>
                  </a:extLst>
                </a:gridCol>
                <a:gridCol w="3084688">
                  <a:extLst>
                    <a:ext uri="{9D8B030D-6E8A-4147-A177-3AD203B41FA5}">
                      <a16:colId xmlns:a16="http://schemas.microsoft.com/office/drawing/2014/main" val="3018853781"/>
                    </a:ext>
                  </a:extLst>
                </a:gridCol>
                <a:gridCol w="3084688">
                  <a:extLst>
                    <a:ext uri="{9D8B030D-6E8A-4147-A177-3AD203B41FA5}">
                      <a16:colId xmlns:a16="http://schemas.microsoft.com/office/drawing/2014/main" val="1141356576"/>
                    </a:ext>
                  </a:extLst>
                </a:gridCol>
              </a:tblGrid>
              <a:tr h="252374">
                <a:tc>
                  <a:txBody>
                    <a:bodyPr/>
                    <a:lstStyle/>
                    <a:p>
                      <a:pPr algn="ctr"/>
                      <a:r>
                        <a:rPr lang="en-IN" sz="1800" b="1" dirty="0">
                          <a:latin typeface="Segoe UI Variable Display" pitchFamily="2" charset="0"/>
                        </a:rPr>
                        <a:t>REFERENCE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1800" b="1" dirty="0">
                          <a:latin typeface="Segoe UI Variable Display"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indent="0" algn="ctr">
                        <a:buFont typeface="Arial" panose="020B0604020202020204" pitchFamily="34" charset="0"/>
                        <a:buNone/>
                      </a:pPr>
                      <a:r>
                        <a:rPr lang="en-IN" sz="1800" b="1" dirty="0">
                          <a:latin typeface="Segoe UI Variable Display" pitchFamily="2" charset="0"/>
                        </a:rPr>
                        <a:t>INFERENCE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216259233"/>
                  </a:ext>
                </a:extLst>
              </a:tr>
              <a:tr h="1875674">
                <a:tc>
                  <a:txBody>
                    <a:bodyPr/>
                    <a:lstStyle/>
                    <a:p>
                      <a:pPr algn="ctr"/>
                      <a:r>
                        <a:rPr lang="en-IN" sz="1200" b="0" dirty="0">
                          <a:latin typeface="Segoe UI Variable Display" pitchFamily="2" charset="0"/>
                        </a:rPr>
                        <a:t>IEEE13 – Bus Analysis in OpenDSS with PV System and Storage – IEEE Xplore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0" dirty="0">
                          <a:solidFill>
                            <a:schemeClr val="tx1"/>
                          </a:solidFill>
                          <a:latin typeface="Segoe UI Variable Display" pitchFamily="2" charset="0"/>
                        </a:rPr>
                        <a:t>IEEE XPLORE</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dirty="0">
                          <a:solidFill>
                            <a:schemeClr val="tx1"/>
                          </a:solidFill>
                          <a:latin typeface="Segoe UI Variable Display" pitchFamily="2" charset="0"/>
                          <a:hlinkClick r:id="rId3">
                            <a:extLst>
                              <a:ext uri="{A12FA001-AC4F-418D-AE19-62706E023703}">
                                <ahyp:hlinkClr xmlns:ahyp="http://schemas.microsoft.com/office/drawing/2018/hyperlinkcolor" val="tx"/>
                              </a:ext>
                            </a:extLst>
                          </a:hlinkClick>
                        </a:rPr>
                        <a:t>https://ieeexplore.ieee.org/document/1129592/</a:t>
                      </a:r>
                      <a:endParaRPr lang="en-IN" sz="1100" b="1" dirty="0">
                        <a:solidFill>
                          <a:schemeClr val="tx1"/>
                        </a:solidFill>
                        <a:latin typeface="Segoe UI Variable Display" pitchFamily="2" charset="0"/>
                      </a:endParaRPr>
                    </a:p>
                    <a:p>
                      <a:pPr algn="ctr"/>
                      <a:endParaRPr lang="en-IN" sz="1100" b="1" dirty="0">
                        <a:solidFill>
                          <a:schemeClr val="tx1"/>
                        </a:solidFill>
                        <a:latin typeface="Segoe UI Variable Display"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indent="-342900" algn="ctr">
                        <a:buFont typeface="+mj-lt"/>
                        <a:buAutoNum type="arabicPeriod"/>
                      </a:pPr>
                      <a:r>
                        <a:rPr lang="en-IN" sz="1200" b="0" dirty="0">
                          <a:latin typeface="Segoe UI Variable Display" pitchFamily="2" charset="0"/>
                        </a:rPr>
                        <a:t>Addition of PV reduced voltage drop across the feeder but increased phase imbalance.</a:t>
                      </a:r>
                    </a:p>
                    <a:p>
                      <a:pPr marL="342900" indent="-342900" algn="ctr">
                        <a:buFont typeface="+mj-lt"/>
                        <a:buAutoNum type="arabicPeriod"/>
                      </a:pPr>
                      <a:r>
                        <a:rPr lang="en-US" sz="1200" b="0" dirty="0">
                          <a:latin typeface="Segoe UI Variable Display" pitchFamily="2" charset="0"/>
                        </a:rPr>
                        <a:t>Large loads shift voltages up or down depending on demand–generation present on the particular bus.</a:t>
                      </a:r>
                    </a:p>
                    <a:p>
                      <a:pPr marL="342900" indent="-342900" algn="ctr">
                        <a:buFont typeface="+mj-lt"/>
                        <a:buAutoNum type="arabicPeriod"/>
                      </a:pPr>
                      <a:r>
                        <a:rPr lang="en-US" sz="1200" b="0" dirty="0">
                          <a:latin typeface="Segoe UI Variable Display" pitchFamily="2" charset="0"/>
                        </a:rPr>
                        <a:t>Distributed Energy sources provided voltage support but the unbalancing was still present.</a:t>
                      </a:r>
                    </a:p>
                    <a:p>
                      <a:pPr marL="285750" indent="-285750" algn="ctr">
                        <a:buFont typeface="Arial" panose="020B0604020202020204" pitchFamily="34" charset="0"/>
                        <a:buChar char="•"/>
                      </a:pPr>
                      <a:endParaRPr lang="en-US" sz="1200" b="0" dirty="0">
                        <a:latin typeface="Segoe UI Variable Display" pitchFamily="2" charset="0"/>
                      </a:endParaRPr>
                    </a:p>
                    <a:p>
                      <a:pPr marL="285750" indent="-285750" algn="ctr">
                        <a:buFont typeface="Arial" panose="020B0604020202020204" pitchFamily="34" charset="0"/>
                        <a:buChar char="•"/>
                      </a:pPr>
                      <a:endParaRPr lang="en-IN" sz="1200" b="0" dirty="0">
                        <a:latin typeface="Segoe UI Variable Display"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71903364"/>
                  </a:ext>
                </a:extLst>
              </a:tr>
              <a:tr h="1361676">
                <a:tc>
                  <a:txBody>
                    <a:bodyPr/>
                    <a:lstStyle/>
                    <a:p>
                      <a:pPr algn="ctr">
                        <a:lnSpc>
                          <a:spcPct val="107000"/>
                        </a:lnSpc>
                        <a:spcAft>
                          <a:spcPts val="800"/>
                        </a:spcAft>
                      </a:pPr>
                      <a:r>
                        <a:rPr lang="en-IN" sz="1200" b="0" dirty="0">
                          <a:effectLst/>
                          <a:latin typeface="Segoe UI Variable Display" pitchFamily="2" charset="0"/>
                          <a:ea typeface="Calibri" panose="020F0502020204030204" pitchFamily="34" charset="0"/>
                          <a:cs typeface="Times New Roman" panose="02020603050405020304" pitchFamily="18" charset="0"/>
                        </a:rPr>
                        <a:t>Unbalanced Distribution Power Flow with Distributed Generation Sarika </a:t>
                      </a:r>
                      <a:r>
                        <a:rPr lang="en-IN" sz="1200" b="0" dirty="0" err="1">
                          <a:effectLst/>
                          <a:latin typeface="Segoe UI Variable Display" pitchFamily="2" charset="0"/>
                          <a:ea typeface="Calibri" panose="020F0502020204030204" pitchFamily="34" charset="0"/>
                          <a:cs typeface="Times New Roman" panose="02020603050405020304" pitchFamily="18" charset="0"/>
                        </a:rPr>
                        <a:t>Khushalani</a:t>
                      </a:r>
                      <a:r>
                        <a:rPr lang="en-IN" sz="1200" b="0" dirty="0">
                          <a:effectLst/>
                          <a:latin typeface="Segoe UI Variable Display" pitchFamily="2" charset="0"/>
                          <a:ea typeface="Calibri" panose="020F0502020204030204" pitchFamily="34" charset="0"/>
                          <a:cs typeface="Times New Roman" panose="02020603050405020304" pitchFamily="18" charset="0"/>
                        </a:rPr>
                        <a:t>, Student Member, IEEE, and Noel Schulz, Senior Member, IEEE –RESEARCH GATE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IN" sz="1100" b="0" dirty="0">
                          <a:solidFill>
                            <a:schemeClr val="tx1"/>
                          </a:solidFill>
                          <a:effectLst/>
                          <a:latin typeface="Segoe UI Variable Display" pitchFamily="2" charset="0"/>
                          <a:ea typeface="Calibri" panose="020F0502020204030204" pitchFamily="34" charset="0"/>
                          <a:cs typeface="Times New Roman" panose="02020603050405020304" pitchFamily="18" charset="0"/>
                        </a:rPr>
                        <a:t>RESEARCH GATE </a:t>
                      </a:r>
                      <a:r>
                        <a:rPr lang="en-IN" sz="1100" b="1" u="sng" dirty="0">
                          <a:solidFill>
                            <a:schemeClr val="tx1"/>
                          </a:solidFill>
                          <a:effectLst/>
                          <a:latin typeface="Segoe UI Variable Display" pitchFamily="2" charset="0"/>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https://www.researchgate.net/publication/224643624_Unbalanced_Distribution_Power_Flow_with_Distributed_Generation</a:t>
                      </a:r>
                      <a:endParaRPr lang="en-IN" sz="1100" b="1" dirty="0">
                        <a:solidFill>
                          <a:schemeClr val="tx1"/>
                        </a:solidFill>
                        <a:effectLst/>
                        <a:latin typeface="Segoe UI Variable Display" pitchFamily="2" charset="0"/>
                        <a:ea typeface="Calibri" panose="020F050202020403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IN" sz="1200" b="0" dirty="0">
                          <a:solidFill>
                            <a:srgbClr val="000000"/>
                          </a:solidFill>
                          <a:effectLst/>
                          <a:latin typeface="Segoe UI Variable Display" pitchFamily="2" charset="0"/>
                          <a:ea typeface="Calibri" panose="020F0502020204030204" pitchFamily="34" charset="0"/>
                          <a:cs typeface="Times New Roman" panose="02020603050405020304" pitchFamily="18" charset="0"/>
                        </a:rPr>
                        <a:t>This paper works on matching the  calculated data with the specified data of standard test case data (with and without DG integration) and cross-checking results using RDAP-Radial Distribution Analysis Package used for load flow analysis</a:t>
                      </a:r>
                      <a:endParaRPr lang="en-IN" sz="1200" b="0" dirty="0">
                        <a:effectLst/>
                        <a:latin typeface="Segoe UI Variable Display" pitchFamily="2" charset="0"/>
                        <a:ea typeface="Calibri" panose="020F050202020403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9135218"/>
                  </a:ext>
                </a:extLst>
              </a:tr>
              <a:tr h="1284318">
                <a:tc>
                  <a:txBody>
                    <a:bodyPr/>
                    <a:lstStyle/>
                    <a:p>
                      <a:pPr algn="ctr">
                        <a:lnSpc>
                          <a:spcPct val="107000"/>
                        </a:lnSpc>
                        <a:spcAft>
                          <a:spcPts val="800"/>
                        </a:spcAft>
                      </a:pPr>
                      <a:r>
                        <a:rPr lang="en-US" sz="1200" dirty="0">
                          <a:latin typeface="Segoe UI Variable Display" pitchFamily="2" charset="0"/>
                        </a:rPr>
                        <a:t>Impact Assessment of PV Penetration on Unbalanced Distribution network with Dynamic load condition-IEEE Xplore</a:t>
                      </a:r>
                      <a:endParaRPr lang="en-IN" sz="1200" b="0" dirty="0">
                        <a:effectLst/>
                        <a:latin typeface="Segoe UI Variable Display" pitchFamily="2" charset="0"/>
                        <a:ea typeface="Calibri" panose="020F050202020403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IN" sz="1100" b="0" dirty="0">
                          <a:solidFill>
                            <a:schemeClr val="tx1"/>
                          </a:solidFill>
                          <a:latin typeface="Segoe UI Variable Display" pitchFamily="2" charset="0"/>
                        </a:rPr>
                        <a:t>IEEE XPLORE</a:t>
                      </a:r>
                    </a:p>
                    <a:p>
                      <a:pPr algn="ctr">
                        <a:lnSpc>
                          <a:spcPct val="107000"/>
                        </a:lnSpc>
                        <a:spcAft>
                          <a:spcPts val="800"/>
                        </a:spcAft>
                      </a:pPr>
                      <a:r>
                        <a:rPr lang="en-IN" sz="1100" b="1" dirty="0">
                          <a:solidFill>
                            <a:schemeClr val="tx1"/>
                          </a:solidFill>
                          <a:effectLst/>
                          <a:latin typeface="Segoe UI Variable Display" pitchFamily="2" charset="0"/>
                          <a:ea typeface="Calibri" panose="020F0502020204030204" pitchFamily="34" charset="0"/>
                          <a:cs typeface="Times New Roman" panose="02020603050405020304" pitchFamily="18" charset="0"/>
                        </a:rPr>
                        <a:t>https://ieeexplore.ieee.org/document/9726552/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b="0" i="0" kern="1200" dirty="0">
                          <a:solidFill>
                            <a:schemeClr val="dk1"/>
                          </a:solidFill>
                          <a:effectLst/>
                          <a:latin typeface="Segoe UI Variable Display" pitchFamily="2" charset="0"/>
                          <a:ea typeface="+mn-ea"/>
                          <a:cs typeface="+mn-cs"/>
                        </a:rPr>
                        <a:t>Optimal Placement and sizing of PV (100KW at Bus 675) improved positive sequence voltage profiles and reduced line losses compared without PV, while maintaining system parameters within ( ANSI ) permissible limits.</a:t>
                      </a:r>
                      <a:endParaRPr lang="en-IN" sz="1200" b="0" dirty="0">
                        <a:effectLst/>
                        <a:latin typeface="Segoe UI Variable Display" pitchFamily="2" charset="0"/>
                        <a:ea typeface="Calibri" panose="020F050202020403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9416762"/>
                  </a:ext>
                </a:extLst>
              </a:tr>
            </a:tbl>
          </a:graphicData>
        </a:graphic>
      </p:graphicFrame>
    </p:spTree>
    <p:extLst>
      <p:ext uri="{BB962C8B-B14F-4D97-AF65-F5344CB8AC3E}">
        <p14:creationId xmlns:p14="http://schemas.microsoft.com/office/powerpoint/2010/main" val="2979786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D798C-2932-4F65-A347-E92A3BDE756B}"/>
              </a:ext>
            </a:extLst>
          </p:cNvPr>
          <p:cNvSpPr>
            <a:spLocks noGrp="1"/>
          </p:cNvSpPr>
          <p:nvPr>
            <p:ph type="title"/>
          </p:nvPr>
        </p:nvSpPr>
        <p:spPr>
          <a:xfrm>
            <a:off x="154253" y="3429000"/>
            <a:ext cx="10515600" cy="691093"/>
          </a:xfrm>
        </p:spPr>
        <p:txBody>
          <a:bodyPr>
            <a:normAutofit/>
          </a:bodyPr>
          <a:lstStyle/>
          <a:p>
            <a:r>
              <a:rPr lang="en-IN" sz="3200" b="1" dirty="0">
                <a:latin typeface="Segoe UI Variable Display" pitchFamily="2" charset="0"/>
              </a:rPr>
              <a:t>OBJECTIVES</a:t>
            </a:r>
          </a:p>
        </p:txBody>
      </p:sp>
      <p:sp>
        <p:nvSpPr>
          <p:cNvPr id="3" name="Content Placeholder 2">
            <a:extLst>
              <a:ext uri="{FF2B5EF4-FFF2-40B4-BE49-F238E27FC236}">
                <a16:creationId xmlns:a16="http://schemas.microsoft.com/office/drawing/2014/main" id="{D274B0CA-2A68-49BC-A773-0EC465499538}"/>
              </a:ext>
            </a:extLst>
          </p:cNvPr>
          <p:cNvSpPr>
            <a:spLocks noGrp="1"/>
          </p:cNvSpPr>
          <p:nvPr>
            <p:ph idx="1"/>
          </p:nvPr>
        </p:nvSpPr>
        <p:spPr>
          <a:xfrm>
            <a:off x="1049868" y="4120093"/>
            <a:ext cx="10329332" cy="2399242"/>
          </a:xfrm>
        </p:spPr>
        <p:txBody>
          <a:bodyPr>
            <a:normAutofit/>
          </a:bodyPr>
          <a:lstStyle/>
          <a:p>
            <a:pPr algn="just" eaLnBrk="0" fontAlgn="base" hangingPunct="0">
              <a:lnSpc>
                <a:spcPct val="100000"/>
              </a:lnSpc>
              <a:spcBef>
                <a:spcPct val="0"/>
              </a:spcBef>
              <a:spcAft>
                <a:spcPct val="0"/>
              </a:spcAft>
            </a:pPr>
            <a:r>
              <a:rPr lang="en-IN" sz="2000" dirty="0">
                <a:latin typeface="Segoe UI Variable Display" pitchFamily="2" charset="0"/>
              </a:rPr>
              <a:t>To perform load flow analysis of the distribution system and obtain the voltage profile (p.u) and power losses occurred in transformers  and buses. </a:t>
            </a:r>
          </a:p>
          <a:p>
            <a:pPr marL="0" indent="0" algn="just" eaLnBrk="0" fontAlgn="base" hangingPunct="0">
              <a:lnSpc>
                <a:spcPct val="100000"/>
              </a:lnSpc>
              <a:spcBef>
                <a:spcPct val="0"/>
              </a:spcBef>
              <a:spcAft>
                <a:spcPct val="0"/>
              </a:spcAft>
              <a:buNone/>
            </a:pPr>
            <a:endParaRPr lang="en-IN" sz="2000" dirty="0">
              <a:latin typeface="Segoe UI Variable Display" pitchFamily="2" charset="0"/>
            </a:endParaRPr>
          </a:p>
          <a:p>
            <a:pPr algn="just" eaLnBrk="0" fontAlgn="base" hangingPunct="0">
              <a:lnSpc>
                <a:spcPct val="100000"/>
              </a:lnSpc>
              <a:spcBef>
                <a:spcPct val="0"/>
              </a:spcBef>
              <a:spcAft>
                <a:spcPct val="0"/>
              </a:spcAft>
            </a:pPr>
            <a:r>
              <a:rPr lang="en-IN" sz="2000" dirty="0">
                <a:latin typeface="Segoe UI Variable Display" pitchFamily="2" charset="0"/>
              </a:rPr>
              <a:t>To understand on how the system parameters of the feeder change with the addition of loads.</a:t>
            </a:r>
          </a:p>
          <a:p>
            <a:pPr algn="just" eaLnBrk="0" fontAlgn="base" hangingPunct="0">
              <a:lnSpc>
                <a:spcPct val="100000"/>
              </a:lnSpc>
              <a:spcBef>
                <a:spcPct val="0"/>
              </a:spcBef>
              <a:spcAft>
                <a:spcPct val="0"/>
              </a:spcAft>
            </a:pPr>
            <a:endParaRPr lang="en-IN" sz="2000" dirty="0">
              <a:latin typeface="Segoe UI Variable Display" pitchFamily="2" charset="0"/>
            </a:endParaRPr>
          </a:p>
          <a:p>
            <a:pPr algn="just" eaLnBrk="0" fontAlgn="base" hangingPunct="0">
              <a:lnSpc>
                <a:spcPct val="100000"/>
              </a:lnSpc>
              <a:spcBef>
                <a:spcPct val="0"/>
              </a:spcBef>
              <a:spcAft>
                <a:spcPct val="0"/>
              </a:spcAft>
            </a:pPr>
            <a:r>
              <a:rPr lang="en-IN" sz="2000" dirty="0">
                <a:latin typeface="Segoe UI Variable Display" pitchFamily="2" charset="0"/>
              </a:rPr>
              <a:t>Including the compensation capacitors to improve the voltage p.u and reduce the losses.</a:t>
            </a:r>
          </a:p>
        </p:txBody>
      </p:sp>
      <p:pic>
        <p:nvPicPr>
          <p:cNvPr id="7" name="Picture 4" descr="SASTRA University (@SASTRA_Univ ...">
            <a:extLst>
              <a:ext uri="{FF2B5EF4-FFF2-40B4-BE49-F238E27FC236}">
                <a16:creationId xmlns:a16="http://schemas.microsoft.com/office/drawing/2014/main" id="{CA5BF5A6-69BD-49AE-B915-212F3CFA26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5385" y="199496"/>
            <a:ext cx="876830" cy="87683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6E8BEBE6-05A9-4EAE-BCA9-C6AD27357A25}"/>
              </a:ext>
            </a:extLst>
          </p:cNvPr>
          <p:cNvSpPr txBox="1">
            <a:spLocks/>
          </p:cNvSpPr>
          <p:nvPr/>
        </p:nvSpPr>
        <p:spPr>
          <a:xfrm>
            <a:off x="154253" y="199496"/>
            <a:ext cx="10515600" cy="105833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latin typeface="Segoe UI Variable Display" pitchFamily="2" charset="0"/>
              </a:rPr>
              <a:t>PROBLEM</a:t>
            </a:r>
            <a:r>
              <a:rPr lang="en-IN" sz="3200" dirty="0"/>
              <a:t> </a:t>
            </a:r>
            <a:r>
              <a:rPr lang="en-IN" sz="3200" b="1" dirty="0">
                <a:latin typeface="Segoe UI Variable Display" pitchFamily="2" charset="0"/>
              </a:rPr>
              <a:t>FORMULATION</a:t>
            </a:r>
          </a:p>
        </p:txBody>
      </p:sp>
      <p:sp>
        <p:nvSpPr>
          <p:cNvPr id="8" name="Content Placeholder 2">
            <a:extLst>
              <a:ext uri="{FF2B5EF4-FFF2-40B4-BE49-F238E27FC236}">
                <a16:creationId xmlns:a16="http://schemas.microsoft.com/office/drawing/2014/main" id="{F5A4794D-D1EA-4F6E-A509-87080AFC2FC3}"/>
              </a:ext>
            </a:extLst>
          </p:cNvPr>
          <p:cNvSpPr txBox="1">
            <a:spLocks/>
          </p:cNvSpPr>
          <p:nvPr/>
        </p:nvSpPr>
        <p:spPr>
          <a:xfrm>
            <a:off x="1024468" y="1348447"/>
            <a:ext cx="10151532" cy="13894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eaLnBrk="0" fontAlgn="base" hangingPunct="0">
              <a:lnSpc>
                <a:spcPct val="100000"/>
              </a:lnSpc>
              <a:spcBef>
                <a:spcPct val="0"/>
              </a:spcBef>
              <a:spcAft>
                <a:spcPct val="0"/>
              </a:spcAft>
              <a:buNone/>
            </a:pPr>
            <a:r>
              <a:rPr lang="en-US" sz="2000" dirty="0">
                <a:latin typeface="Segoe UI Variable Display" pitchFamily="2" charset="0"/>
              </a:rPr>
              <a:t>                   Maintaining stable voltage and minimizing losses in power distribution systems is difficult due to unbalanced and varying loads. This project uses the IEEE 13-bus system in OpenDSS with 24-hour load variation to analyze voltage, current, and losses, aiming to ensure efficient and reliable operation.</a:t>
            </a:r>
            <a:endParaRPr lang="en-IN" sz="2000" dirty="0">
              <a:latin typeface="Segoe UI Variable Display" pitchFamily="2" charset="0"/>
            </a:endParaRPr>
          </a:p>
        </p:txBody>
      </p:sp>
    </p:spTree>
    <p:extLst>
      <p:ext uri="{BB962C8B-B14F-4D97-AF65-F5344CB8AC3E}">
        <p14:creationId xmlns:p14="http://schemas.microsoft.com/office/powerpoint/2010/main" val="2488259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123B9-E578-42E5-8954-F11847AE3294}"/>
              </a:ext>
            </a:extLst>
          </p:cNvPr>
          <p:cNvSpPr>
            <a:spLocks noGrp="1"/>
          </p:cNvSpPr>
          <p:nvPr>
            <p:ph type="title"/>
          </p:nvPr>
        </p:nvSpPr>
        <p:spPr>
          <a:xfrm>
            <a:off x="338667" y="212725"/>
            <a:ext cx="5537200" cy="701675"/>
          </a:xfrm>
        </p:spPr>
        <p:txBody>
          <a:bodyPr>
            <a:normAutofit/>
          </a:bodyPr>
          <a:lstStyle/>
          <a:p>
            <a:r>
              <a:rPr lang="en-IN" sz="4000" b="1" dirty="0">
                <a:latin typeface="Segoe UI Variable Display" pitchFamily="2" charset="0"/>
              </a:rPr>
              <a:t>METHODOLOGY</a:t>
            </a:r>
          </a:p>
        </p:txBody>
      </p:sp>
      <p:sp>
        <p:nvSpPr>
          <p:cNvPr id="8" name="TextBox 7">
            <a:extLst>
              <a:ext uri="{FF2B5EF4-FFF2-40B4-BE49-F238E27FC236}">
                <a16:creationId xmlns:a16="http://schemas.microsoft.com/office/drawing/2014/main" id="{FCFAB574-BF93-47FC-AE09-3BBB7A054FD7}"/>
              </a:ext>
            </a:extLst>
          </p:cNvPr>
          <p:cNvSpPr txBox="1"/>
          <p:nvPr/>
        </p:nvSpPr>
        <p:spPr>
          <a:xfrm>
            <a:off x="520700" y="1515822"/>
            <a:ext cx="11150600" cy="4832092"/>
          </a:xfrm>
          <a:prstGeom prst="rect">
            <a:avLst/>
          </a:prstGeom>
          <a:noFill/>
        </p:spPr>
        <p:txBody>
          <a:bodyPr wrap="square" rtlCol="0">
            <a:spAutoFit/>
          </a:bodyPr>
          <a:lstStyle/>
          <a:p>
            <a:pPr marL="285750" indent="-285750">
              <a:buFont typeface="Arial" panose="020B0604020202020204" pitchFamily="34" charset="0"/>
              <a:buChar char="•"/>
            </a:pPr>
            <a:r>
              <a:rPr lang="en-US" sz="1400" b="1" dirty="0">
                <a:effectLst/>
                <a:latin typeface="Segoe UI Variable Display" pitchFamily="2" charset="0"/>
              </a:rPr>
              <a:t>Selection of Test System </a:t>
            </a:r>
          </a:p>
          <a:p>
            <a:r>
              <a:rPr lang="en-US" sz="1400" b="1" dirty="0">
                <a:effectLst/>
                <a:latin typeface="Segoe UI Variable Display" pitchFamily="2" charset="0"/>
              </a:rPr>
              <a:t>                                        </a:t>
            </a:r>
            <a:r>
              <a:rPr lang="en-US" sz="1400" dirty="0">
                <a:effectLst/>
                <a:latin typeface="Segoe UI Variable Display" pitchFamily="2" charset="0"/>
              </a:rPr>
              <a:t> Standard IEEE 13-bus distribution system chosen as the base model.</a:t>
            </a:r>
          </a:p>
          <a:p>
            <a:pPr marL="285750" indent="-285750">
              <a:buFont typeface="Arial" panose="020B0604020202020204" pitchFamily="34" charset="0"/>
              <a:buChar char="•"/>
            </a:pPr>
            <a:endParaRPr lang="en-US" sz="1400" dirty="0">
              <a:latin typeface="Segoe UI Variable Display" pitchFamily="2" charset="0"/>
            </a:endParaRPr>
          </a:p>
          <a:p>
            <a:pPr marL="285750" indent="-285750">
              <a:buFont typeface="Arial" panose="020B0604020202020204" pitchFamily="34" charset="0"/>
              <a:buChar char="•"/>
            </a:pPr>
            <a:r>
              <a:rPr lang="en-US" sz="1400" b="1" dirty="0">
                <a:effectLst/>
                <a:latin typeface="Segoe UI Variable Display" pitchFamily="2" charset="0"/>
              </a:rPr>
              <a:t>Model Development</a:t>
            </a:r>
          </a:p>
          <a:p>
            <a:r>
              <a:rPr lang="en-US" sz="1400" b="1" dirty="0">
                <a:effectLst/>
                <a:latin typeface="Segoe UI Variable Display" pitchFamily="2" charset="0"/>
              </a:rPr>
              <a:t>                                         </a:t>
            </a:r>
            <a:r>
              <a:rPr lang="en-US" sz="1400" dirty="0">
                <a:effectLst/>
                <a:latin typeface="Segoe UI Variable Display" pitchFamily="2" charset="0"/>
              </a:rPr>
              <a:t>System was modeled with predefined parameters like  line data, transformers, loads, and capacitors.</a:t>
            </a:r>
          </a:p>
          <a:p>
            <a:pPr marL="285750" indent="-285750">
              <a:buFont typeface="Arial" panose="020B0604020202020204" pitchFamily="34" charset="0"/>
              <a:buChar char="•"/>
            </a:pPr>
            <a:endParaRPr lang="en-US" sz="1400" dirty="0">
              <a:latin typeface="Segoe UI Variable Display" pitchFamily="2" charset="0"/>
            </a:endParaRPr>
          </a:p>
          <a:p>
            <a:pPr marL="285750" indent="-285750">
              <a:buFont typeface="Arial" panose="020B0604020202020204" pitchFamily="34" charset="0"/>
              <a:buChar char="•"/>
            </a:pPr>
            <a:r>
              <a:rPr lang="en-US" sz="1400" b="1" dirty="0">
                <a:effectLst/>
                <a:latin typeface="Segoe UI Variable Display" pitchFamily="2" charset="0"/>
              </a:rPr>
              <a:t>Load Flow Analysis</a:t>
            </a:r>
            <a:r>
              <a:rPr lang="en-US" sz="1400" dirty="0">
                <a:effectLst/>
                <a:latin typeface="Segoe UI Variable Display" pitchFamily="2" charset="0"/>
              </a:rPr>
              <a:t> </a:t>
            </a:r>
          </a:p>
          <a:p>
            <a:r>
              <a:rPr lang="en-US" sz="1400" dirty="0">
                <a:latin typeface="Segoe UI Variable Display" pitchFamily="2" charset="0"/>
              </a:rPr>
              <a:t>                                          </a:t>
            </a:r>
            <a:r>
              <a:rPr lang="en-US" sz="1400" dirty="0">
                <a:effectLst/>
                <a:latin typeface="Segoe UI Variable Display" pitchFamily="2" charset="0"/>
              </a:rPr>
              <a:t>Initial load flow performed using those data to observe voltage profile and system losses.</a:t>
            </a:r>
          </a:p>
          <a:p>
            <a:pPr marL="285750" indent="-285750">
              <a:buFont typeface="Arial" panose="020B0604020202020204" pitchFamily="34" charset="0"/>
              <a:buChar char="•"/>
            </a:pPr>
            <a:endParaRPr lang="en-US" sz="1400" dirty="0">
              <a:latin typeface="Segoe UI Variable Display" pitchFamily="2" charset="0"/>
            </a:endParaRPr>
          </a:p>
          <a:p>
            <a:pPr marL="285750" indent="-285750">
              <a:buFont typeface="Arial" panose="020B0604020202020204" pitchFamily="34" charset="0"/>
              <a:buChar char="•"/>
            </a:pPr>
            <a:r>
              <a:rPr lang="en-US" sz="1400" b="1" dirty="0">
                <a:effectLst/>
                <a:latin typeface="Segoe UI Variable Display" pitchFamily="2" charset="0"/>
              </a:rPr>
              <a:t>Modification of System Parameters</a:t>
            </a:r>
            <a:r>
              <a:rPr lang="en-US" sz="1400" dirty="0">
                <a:effectLst/>
                <a:latin typeface="Segoe UI Variable Display" pitchFamily="2" charset="0"/>
              </a:rPr>
              <a:t> </a:t>
            </a:r>
          </a:p>
          <a:p>
            <a:r>
              <a:rPr lang="en-US" sz="1400" dirty="0">
                <a:effectLst/>
                <a:latin typeface="Segoe UI Variable Display" pitchFamily="2" charset="0"/>
              </a:rPr>
              <a:t>                                           Additional loads(rural loads) introduced; line codes and distributed loads modified to study behavior under increased loading.</a:t>
            </a:r>
          </a:p>
          <a:p>
            <a:endParaRPr lang="en-US" sz="1400" dirty="0">
              <a:latin typeface="Segoe UI Variable Display" pitchFamily="2" charset="0"/>
            </a:endParaRPr>
          </a:p>
          <a:p>
            <a:pPr marL="285750" indent="-285750">
              <a:buFont typeface="Arial" panose="020B0604020202020204" pitchFamily="34" charset="0"/>
              <a:buChar char="•"/>
            </a:pPr>
            <a:r>
              <a:rPr lang="en-US" sz="1400" b="1" dirty="0">
                <a:effectLst/>
                <a:latin typeface="Segoe UI Variable Display" pitchFamily="2" charset="0"/>
              </a:rPr>
              <a:t>Simulation Setup</a:t>
            </a:r>
            <a:r>
              <a:rPr lang="en-US" sz="1400" b="1" dirty="0">
                <a:latin typeface="Segoe UI Variable Display" pitchFamily="2" charset="0"/>
              </a:rPr>
              <a:t>(Incorporation of Load Shapes)</a:t>
            </a:r>
            <a:endParaRPr lang="en-US" sz="1400" dirty="0">
              <a:effectLst/>
              <a:latin typeface="Segoe UI Variable Display" pitchFamily="2" charset="0"/>
            </a:endParaRPr>
          </a:p>
          <a:p>
            <a:r>
              <a:rPr lang="en-US" sz="1400" dirty="0">
                <a:effectLst/>
                <a:latin typeface="Segoe UI Variable Display" pitchFamily="2" charset="0"/>
              </a:rPr>
              <a:t>                          </a:t>
            </a:r>
          </a:p>
          <a:p>
            <a:endParaRPr lang="en-US" sz="1400" dirty="0">
              <a:latin typeface="Segoe UI Variable Display" pitchFamily="2" charset="0"/>
            </a:endParaRPr>
          </a:p>
          <a:p>
            <a:r>
              <a:rPr lang="en-US" sz="1400" dirty="0">
                <a:effectLst/>
                <a:latin typeface="Segoe UI Variable Display" pitchFamily="2" charset="0"/>
              </a:rPr>
              <a:t>                  </a:t>
            </a:r>
            <a:endParaRPr lang="en-US" sz="1400" dirty="0">
              <a:latin typeface="Segoe UI Variable Display" pitchFamily="2" charset="0"/>
            </a:endParaRPr>
          </a:p>
          <a:p>
            <a:pPr marL="285750" indent="-285750">
              <a:buFont typeface="Arial" panose="020B0604020202020204" pitchFamily="34" charset="0"/>
              <a:buChar char="•"/>
            </a:pPr>
            <a:r>
              <a:rPr lang="en-US" sz="1400" b="1" dirty="0">
                <a:effectLst/>
                <a:latin typeface="Segoe UI Variable Display" pitchFamily="2" charset="0"/>
              </a:rPr>
              <a:t>Performance Monitoring</a:t>
            </a:r>
            <a:r>
              <a:rPr lang="en-US" sz="1400" dirty="0">
                <a:effectLst/>
                <a:latin typeface="Segoe UI Variable Display" pitchFamily="2" charset="0"/>
              </a:rPr>
              <a:t> </a:t>
            </a:r>
          </a:p>
          <a:p>
            <a:r>
              <a:rPr lang="en-US" sz="1400" dirty="0">
                <a:effectLst/>
                <a:latin typeface="Segoe UI Variable Display" pitchFamily="2" charset="0"/>
              </a:rPr>
              <a:t>                                           Key parameters monitored: voltage, current</a:t>
            </a:r>
            <a:r>
              <a:rPr lang="en-US" sz="1400" dirty="0">
                <a:latin typeface="Segoe UI Variable Display" pitchFamily="2" charset="0"/>
              </a:rPr>
              <a:t>, power</a:t>
            </a:r>
            <a:r>
              <a:rPr lang="en-US" sz="1400" dirty="0">
                <a:effectLst/>
                <a:latin typeface="Segoe UI Variable Display" pitchFamily="2" charset="0"/>
              </a:rPr>
              <a:t> and losses.</a:t>
            </a:r>
          </a:p>
          <a:p>
            <a:endParaRPr lang="en-US" sz="1400" dirty="0">
              <a:latin typeface="Segoe UI Variable Display" pitchFamily="2" charset="0"/>
            </a:endParaRPr>
          </a:p>
          <a:p>
            <a:pPr marL="285750" indent="-285750">
              <a:buFont typeface="Arial" panose="020B0604020202020204" pitchFamily="34" charset="0"/>
              <a:buChar char="•"/>
            </a:pPr>
            <a:r>
              <a:rPr lang="en-US" sz="1400" b="1" dirty="0">
                <a:effectLst/>
                <a:latin typeface="Segoe UI Variable Display" pitchFamily="2" charset="0"/>
              </a:rPr>
              <a:t>Result Analysis</a:t>
            </a:r>
            <a:endParaRPr lang="en-US" sz="1400" b="1" dirty="0">
              <a:latin typeface="Segoe UI Variable Display" pitchFamily="2" charset="0"/>
            </a:endParaRPr>
          </a:p>
          <a:p>
            <a:r>
              <a:rPr lang="en-US" sz="1400" b="1" dirty="0">
                <a:latin typeface="Segoe UI Variable Display" pitchFamily="2" charset="0"/>
              </a:rPr>
              <a:t>                                            </a:t>
            </a:r>
            <a:r>
              <a:rPr lang="en-US" sz="1400" dirty="0">
                <a:effectLst/>
                <a:latin typeface="Segoe UI Variable Display" pitchFamily="2" charset="0"/>
              </a:rPr>
              <a:t>Results analyzed to understand impact of load variation on voltage profile, feeder performance, and system losses.</a:t>
            </a:r>
            <a:endParaRPr lang="en-US" sz="1400" dirty="0">
              <a:latin typeface="Segoe UI Variable Display" pitchFamily="2" charset="0"/>
            </a:endParaRPr>
          </a:p>
        </p:txBody>
      </p:sp>
      <p:sp>
        <p:nvSpPr>
          <p:cNvPr id="10" name="TextBox 9">
            <a:extLst>
              <a:ext uri="{FF2B5EF4-FFF2-40B4-BE49-F238E27FC236}">
                <a16:creationId xmlns:a16="http://schemas.microsoft.com/office/drawing/2014/main" id="{F9AA0E0F-EBE1-4100-ABDA-630874D78B9B}"/>
              </a:ext>
            </a:extLst>
          </p:cNvPr>
          <p:cNvSpPr txBox="1"/>
          <p:nvPr/>
        </p:nvSpPr>
        <p:spPr>
          <a:xfrm>
            <a:off x="2252132" y="764002"/>
            <a:ext cx="7450667" cy="584775"/>
          </a:xfrm>
          <a:prstGeom prst="rect">
            <a:avLst/>
          </a:prstGeom>
          <a:noFill/>
        </p:spPr>
        <p:txBody>
          <a:bodyPr wrap="square">
            <a:spAutoFit/>
          </a:bodyPr>
          <a:lstStyle/>
          <a:p>
            <a:r>
              <a:rPr lang="en-US" sz="3200" b="1" dirty="0"/>
              <a:t>IEEE 13-BUS DISTRIBUTION SYSTEM STUDY</a:t>
            </a:r>
          </a:p>
        </p:txBody>
      </p:sp>
      <p:sp>
        <p:nvSpPr>
          <p:cNvPr id="6" name="TextBox 5">
            <a:extLst>
              <a:ext uri="{FF2B5EF4-FFF2-40B4-BE49-F238E27FC236}">
                <a16:creationId xmlns:a16="http://schemas.microsoft.com/office/drawing/2014/main" id="{F0C7B0C3-02D3-44DC-BF6F-F86D7F028638}"/>
              </a:ext>
            </a:extLst>
          </p:cNvPr>
          <p:cNvSpPr txBox="1"/>
          <p:nvPr/>
        </p:nvSpPr>
        <p:spPr>
          <a:xfrm>
            <a:off x="2205567" y="4561469"/>
            <a:ext cx="9465733" cy="523220"/>
          </a:xfrm>
          <a:prstGeom prst="rect">
            <a:avLst/>
          </a:prstGeom>
          <a:noFill/>
        </p:spPr>
        <p:txBody>
          <a:bodyPr wrap="square">
            <a:spAutoFit/>
          </a:bodyPr>
          <a:lstStyle/>
          <a:p>
            <a:pPr marL="342900" indent="-342900">
              <a:buFont typeface="+mj-lt"/>
              <a:buAutoNum type="arabicPeriod"/>
            </a:pPr>
            <a:r>
              <a:rPr lang="en-US" sz="1400" dirty="0">
                <a:effectLst/>
                <a:latin typeface="Segoe UI Variable Display" pitchFamily="2" charset="0"/>
              </a:rPr>
              <a:t>24-hour load shape applied to analyze time-varying load behavior.</a:t>
            </a:r>
            <a:endParaRPr lang="en-US" sz="1400" dirty="0">
              <a:latin typeface="Segoe UI Variable Display" pitchFamily="2" charset="0"/>
            </a:endParaRPr>
          </a:p>
          <a:p>
            <a:pPr marL="342900" indent="-342900">
              <a:buFont typeface="+mj-lt"/>
              <a:buAutoNum type="arabicPeriod"/>
            </a:pPr>
            <a:r>
              <a:rPr lang="en-US" sz="1400" dirty="0">
                <a:effectLst/>
                <a:latin typeface="Segoe UI Variable Display" pitchFamily="2" charset="0"/>
              </a:rPr>
              <a:t> Daily simulation carried out with 1-hour time step to evaluate system performance over 24 hours.</a:t>
            </a:r>
          </a:p>
        </p:txBody>
      </p:sp>
    </p:spTree>
    <p:extLst>
      <p:ext uri="{BB962C8B-B14F-4D97-AF65-F5344CB8AC3E}">
        <p14:creationId xmlns:p14="http://schemas.microsoft.com/office/powerpoint/2010/main" val="959177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E54EA-2984-4D88-BE90-80EE67DB980A}"/>
              </a:ext>
            </a:extLst>
          </p:cNvPr>
          <p:cNvSpPr>
            <a:spLocks noGrp="1"/>
          </p:cNvSpPr>
          <p:nvPr>
            <p:ph type="title"/>
          </p:nvPr>
        </p:nvSpPr>
        <p:spPr>
          <a:xfrm>
            <a:off x="440267" y="42597"/>
            <a:ext cx="10515600" cy="1325563"/>
          </a:xfrm>
        </p:spPr>
        <p:txBody>
          <a:bodyPr>
            <a:normAutofit/>
          </a:bodyPr>
          <a:lstStyle/>
          <a:p>
            <a:r>
              <a:rPr lang="en-IN" sz="3200" b="1" dirty="0">
                <a:latin typeface="Segoe UI Variable Display" pitchFamily="2" charset="0"/>
              </a:rPr>
              <a:t>IEEE 13 BUS SYSTEM DIAGRAM</a:t>
            </a:r>
          </a:p>
        </p:txBody>
      </p:sp>
      <p:pic>
        <p:nvPicPr>
          <p:cNvPr id="5" name="Picture 4">
            <a:extLst>
              <a:ext uri="{FF2B5EF4-FFF2-40B4-BE49-F238E27FC236}">
                <a16:creationId xmlns:a16="http://schemas.microsoft.com/office/drawing/2014/main" id="{92924C4C-6E73-4836-A329-9918C9EF97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4516" y="1368160"/>
            <a:ext cx="7242968" cy="4828645"/>
          </a:xfrm>
          <a:prstGeom prst="rect">
            <a:avLst/>
          </a:prstGeom>
        </p:spPr>
      </p:pic>
    </p:spTree>
    <p:extLst>
      <p:ext uri="{BB962C8B-B14F-4D97-AF65-F5344CB8AC3E}">
        <p14:creationId xmlns:p14="http://schemas.microsoft.com/office/powerpoint/2010/main" val="2511429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012199F-182B-4F95-82A4-1A5AC4D97533}"/>
              </a:ext>
            </a:extLst>
          </p:cNvPr>
          <p:cNvSpPr>
            <a:spLocks noGrp="1"/>
          </p:cNvSpPr>
          <p:nvPr>
            <p:ph type="title"/>
          </p:nvPr>
        </p:nvSpPr>
        <p:spPr>
          <a:xfrm>
            <a:off x="264546" y="98630"/>
            <a:ext cx="10513292" cy="685445"/>
          </a:xfrm>
        </p:spPr>
        <p:txBody>
          <a:bodyPr>
            <a:normAutofit fontScale="90000"/>
          </a:bodyPr>
          <a:lstStyle/>
          <a:p>
            <a:pPr algn="just"/>
            <a:r>
              <a:rPr lang="en-IN" sz="2800" b="1" dirty="0">
                <a:latin typeface="Segoe UI Variable Display" pitchFamily="2" charset="0"/>
              </a:rPr>
              <a:t>LOAD ALTERATION AND COMPENSATION IN EXISTING SYSTEM:</a:t>
            </a:r>
          </a:p>
        </p:txBody>
      </p:sp>
      <p:sp>
        <p:nvSpPr>
          <p:cNvPr id="4" name="TextBox 3">
            <a:extLst>
              <a:ext uri="{FF2B5EF4-FFF2-40B4-BE49-F238E27FC236}">
                <a16:creationId xmlns:a16="http://schemas.microsoft.com/office/drawing/2014/main" id="{3D046F09-9FED-44F0-8E47-EEC1528D615A}"/>
              </a:ext>
            </a:extLst>
          </p:cNvPr>
          <p:cNvSpPr txBox="1"/>
          <p:nvPr/>
        </p:nvSpPr>
        <p:spPr>
          <a:xfrm>
            <a:off x="474135" y="784075"/>
            <a:ext cx="10140756" cy="523220"/>
          </a:xfrm>
          <a:prstGeom prst="rect">
            <a:avLst/>
          </a:prstGeom>
          <a:noFill/>
        </p:spPr>
        <p:txBody>
          <a:bodyPr wrap="square">
            <a:spAutoFit/>
          </a:bodyPr>
          <a:lstStyle/>
          <a:p>
            <a:pPr algn="just"/>
            <a:r>
              <a:rPr lang="en-US" sz="1400" dirty="0">
                <a:latin typeface="Segoe UI Variable Display" pitchFamily="2" charset="0"/>
              </a:rPr>
              <a:t> The IEEE 13‑node test feeder, developed by IEEE PES Distribution System Analysis Subcommittee, United States serves as a benchmark for DER integration studies.</a:t>
            </a:r>
            <a:endParaRPr lang="en-IN" sz="1400" dirty="0">
              <a:latin typeface="Segoe UI Variable Display" pitchFamily="2" charset="0"/>
            </a:endParaRPr>
          </a:p>
        </p:txBody>
      </p:sp>
      <p:pic>
        <p:nvPicPr>
          <p:cNvPr id="59" name="Picture 4" descr="SASTRA University (@SASTRA_Univ ...">
            <a:extLst>
              <a:ext uri="{FF2B5EF4-FFF2-40B4-BE49-F238E27FC236}">
                <a16:creationId xmlns:a16="http://schemas.microsoft.com/office/drawing/2014/main" id="{46A2E01B-0E29-41E5-9F03-B3CBB0F1AD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5385" y="200230"/>
            <a:ext cx="876830" cy="8768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F3773CA5-4FD5-482D-B2B1-6EE1217848AD}"/>
              </a:ext>
            </a:extLst>
          </p:cNvPr>
          <p:cNvGraphicFramePr>
            <a:graphicFrameLocks noGrp="1"/>
          </p:cNvGraphicFramePr>
          <p:nvPr>
            <p:extLst>
              <p:ext uri="{D42A27DB-BD31-4B8C-83A1-F6EECF244321}">
                <p14:modId xmlns:p14="http://schemas.microsoft.com/office/powerpoint/2010/main" val="462259303"/>
              </p:ext>
            </p:extLst>
          </p:nvPr>
        </p:nvGraphicFramePr>
        <p:xfrm>
          <a:off x="909977" y="1320691"/>
          <a:ext cx="10338177" cy="2022656"/>
        </p:xfrm>
        <a:graphic>
          <a:graphicData uri="http://schemas.openxmlformats.org/drawingml/2006/table">
            <a:tbl>
              <a:tblPr/>
              <a:tblGrid>
                <a:gridCol w="1747847">
                  <a:extLst>
                    <a:ext uri="{9D8B030D-6E8A-4147-A177-3AD203B41FA5}">
                      <a16:colId xmlns:a16="http://schemas.microsoft.com/office/drawing/2014/main" val="2230306309"/>
                    </a:ext>
                  </a:extLst>
                </a:gridCol>
                <a:gridCol w="1205920">
                  <a:extLst>
                    <a:ext uri="{9D8B030D-6E8A-4147-A177-3AD203B41FA5}">
                      <a16:colId xmlns:a16="http://schemas.microsoft.com/office/drawing/2014/main" val="3501120443"/>
                    </a:ext>
                  </a:extLst>
                </a:gridCol>
                <a:gridCol w="1476882">
                  <a:extLst>
                    <a:ext uri="{9D8B030D-6E8A-4147-A177-3AD203B41FA5}">
                      <a16:colId xmlns:a16="http://schemas.microsoft.com/office/drawing/2014/main" val="1210375078"/>
                    </a:ext>
                  </a:extLst>
                </a:gridCol>
                <a:gridCol w="1476882">
                  <a:extLst>
                    <a:ext uri="{9D8B030D-6E8A-4147-A177-3AD203B41FA5}">
                      <a16:colId xmlns:a16="http://schemas.microsoft.com/office/drawing/2014/main" val="3633991527"/>
                    </a:ext>
                  </a:extLst>
                </a:gridCol>
                <a:gridCol w="1476882">
                  <a:extLst>
                    <a:ext uri="{9D8B030D-6E8A-4147-A177-3AD203B41FA5}">
                      <a16:colId xmlns:a16="http://schemas.microsoft.com/office/drawing/2014/main" val="3283276406"/>
                    </a:ext>
                  </a:extLst>
                </a:gridCol>
                <a:gridCol w="1476882">
                  <a:extLst>
                    <a:ext uri="{9D8B030D-6E8A-4147-A177-3AD203B41FA5}">
                      <a16:colId xmlns:a16="http://schemas.microsoft.com/office/drawing/2014/main" val="1298224633"/>
                    </a:ext>
                  </a:extLst>
                </a:gridCol>
                <a:gridCol w="1476882">
                  <a:extLst>
                    <a:ext uri="{9D8B030D-6E8A-4147-A177-3AD203B41FA5}">
                      <a16:colId xmlns:a16="http://schemas.microsoft.com/office/drawing/2014/main" val="2879107681"/>
                    </a:ext>
                  </a:extLst>
                </a:gridCol>
              </a:tblGrid>
              <a:tr h="359783">
                <a:tc>
                  <a:txBody>
                    <a:bodyPr/>
                    <a:lstStyle/>
                    <a:p>
                      <a:pPr algn="ctr"/>
                      <a:r>
                        <a:rPr lang="en-IN" sz="1600" b="1" dirty="0">
                          <a:latin typeface="Segoe UI Variable Display" pitchFamily="2" charset="0"/>
                        </a:rPr>
                        <a:t>LOADS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Bus Connected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Phases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Connection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Voltage (kV)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Active Power (kW)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Reactive Power (</a:t>
                      </a:r>
                      <a:r>
                        <a:rPr lang="en-IN" sz="1100" dirty="0" err="1">
                          <a:latin typeface="Segoe UI Variable Display" pitchFamily="2" charset="0"/>
                        </a:rPr>
                        <a:t>kVAR</a:t>
                      </a:r>
                      <a:r>
                        <a:rPr lang="en-IN" sz="1100" dirty="0">
                          <a:latin typeface="Segoe UI Variable Display" pitchFamily="2"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1437289"/>
                  </a:ext>
                </a:extLst>
              </a:tr>
              <a:tr h="359783">
                <a:tc>
                  <a:txBody>
                    <a:bodyPr/>
                    <a:lstStyle/>
                    <a:p>
                      <a:pPr algn="ctr"/>
                      <a:r>
                        <a:rPr lang="en-IN" sz="1100" dirty="0">
                          <a:latin typeface="Segoe UI Variable Display" pitchFamily="2" charset="0"/>
                        </a:rPr>
                        <a:t>Irrigation Pump -motor load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671.1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Wye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9089860"/>
                  </a:ext>
                </a:extLst>
              </a:tr>
              <a:tr h="359783">
                <a:tc>
                  <a:txBody>
                    <a:bodyPr/>
                    <a:lstStyle/>
                    <a:p>
                      <a:pPr algn="ctr"/>
                      <a:r>
                        <a:rPr lang="en-IN" sz="1100" dirty="0">
                          <a:latin typeface="Segoe UI Variable Display" pitchFamily="2" charset="0"/>
                        </a:rPr>
                        <a:t>Residential Houses-Fans, lights, AC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680.1.2.3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Wye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4.16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150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5554276"/>
                  </a:ext>
                </a:extLst>
              </a:tr>
              <a:tr h="359783">
                <a:tc>
                  <a:txBody>
                    <a:bodyPr/>
                    <a:lstStyle/>
                    <a:p>
                      <a:pPr algn="ctr"/>
                      <a:r>
                        <a:rPr lang="en-IN" sz="1100" dirty="0">
                          <a:latin typeface="Segoe UI Variable Display" pitchFamily="2" charset="0"/>
                        </a:rPr>
                        <a:t>Cooling systems(AC)-Schools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684.3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Wye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2553888"/>
                  </a:ext>
                </a:extLst>
              </a:tr>
              <a:tr h="315776">
                <a:tc>
                  <a:txBody>
                    <a:bodyPr/>
                    <a:lstStyle/>
                    <a:p>
                      <a:pPr algn="ctr"/>
                      <a:r>
                        <a:rPr lang="en-IN" sz="1100" dirty="0" err="1">
                          <a:latin typeface="Segoe UI Variable Display" pitchFamily="2" charset="0"/>
                        </a:rPr>
                        <a:t>Agro</a:t>
                      </a:r>
                      <a:r>
                        <a:rPr lang="en-IN" sz="1100" dirty="0">
                          <a:latin typeface="Segoe UI Variable Display" pitchFamily="2" charset="0"/>
                        </a:rPr>
                        <a:t> Processing Mill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692.1.2.3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Wye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4.16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120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7497628"/>
                  </a:ext>
                </a:extLst>
              </a:tr>
            </a:tbl>
          </a:graphicData>
        </a:graphic>
      </p:graphicFrame>
      <p:graphicFrame>
        <p:nvGraphicFramePr>
          <p:cNvPr id="5" name="Table 4">
            <a:extLst>
              <a:ext uri="{FF2B5EF4-FFF2-40B4-BE49-F238E27FC236}">
                <a16:creationId xmlns:a16="http://schemas.microsoft.com/office/drawing/2014/main" id="{3720AE6E-7D33-4241-809C-E373E4CCA42B}"/>
              </a:ext>
            </a:extLst>
          </p:cNvPr>
          <p:cNvGraphicFramePr>
            <a:graphicFrameLocks noGrp="1"/>
          </p:cNvGraphicFramePr>
          <p:nvPr>
            <p:extLst>
              <p:ext uri="{D42A27DB-BD31-4B8C-83A1-F6EECF244321}">
                <p14:modId xmlns:p14="http://schemas.microsoft.com/office/powerpoint/2010/main" val="1168931520"/>
              </p:ext>
            </p:extLst>
          </p:nvPr>
        </p:nvGraphicFramePr>
        <p:xfrm>
          <a:off x="2237315" y="3458244"/>
          <a:ext cx="7683500" cy="1554480"/>
        </p:xfrm>
        <a:graphic>
          <a:graphicData uri="http://schemas.openxmlformats.org/drawingml/2006/table">
            <a:tbl>
              <a:tblPr/>
              <a:tblGrid>
                <a:gridCol w="1536700">
                  <a:extLst>
                    <a:ext uri="{9D8B030D-6E8A-4147-A177-3AD203B41FA5}">
                      <a16:colId xmlns:a16="http://schemas.microsoft.com/office/drawing/2014/main" val="1158384486"/>
                    </a:ext>
                  </a:extLst>
                </a:gridCol>
                <a:gridCol w="1536700">
                  <a:extLst>
                    <a:ext uri="{9D8B030D-6E8A-4147-A177-3AD203B41FA5}">
                      <a16:colId xmlns:a16="http://schemas.microsoft.com/office/drawing/2014/main" val="236829972"/>
                    </a:ext>
                  </a:extLst>
                </a:gridCol>
                <a:gridCol w="1536700">
                  <a:extLst>
                    <a:ext uri="{9D8B030D-6E8A-4147-A177-3AD203B41FA5}">
                      <a16:colId xmlns:a16="http://schemas.microsoft.com/office/drawing/2014/main" val="539064331"/>
                    </a:ext>
                  </a:extLst>
                </a:gridCol>
                <a:gridCol w="1536700">
                  <a:extLst>
                    <a:ext uri="{9D8B030D-6E8A-4147-A177-3AD203B41FA5}">
                      <a16:colId xmlns:a16="http://schemas.microsoft.com/office/drawing/2014/main" val="2340752761"/>
                    </a:ext>
                  </a:extLst>
                </a:gridCol>
                <a:gridCol w="1536700">
                  <a:extLst>
                    <a:ext uri="{9D8B030D-6E8A-4147-A177-3AD203B41FA5}">
                      <a16:colId xmlns:a16="http://schemas.microsoft.com/office/drawing/2014/main" val="3668499794"/>
                    </a:ext>
                  </a:extLst>
                </a:gridCol>
              </a:tblGrid>
              <a:tr h="434784">
                <a:tc>
                  <a:txBody>
                    <a:bodyPr/>
                    <a:lstStyle/>
                    <a:p>
                      <a:pPr algn="ctr"/>
                      <a:r>
                        <a:rPr lang="en-IN" sz="1600" b="1" dirty="0">
                          <a:latin typeface="Segoe UI Variable Display" pitchFamily="2" charset="0"/>
                        </a:rPr>
                        <a:t>CAPACITORS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a:latin typeface="Segoe UI Variable Display" pitchFamily="2" charset="0"/>
                        </a:rPr>
                        <a:t>Bus Connected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a:latin typeface="Segoe UI Variable Display" pitchFamily="2" charset="0"/>
                        </a:rPr>
                        <a:t>Phases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a:latin typeface="Segoe UI Variable Display" pitchFamily="2" charset="0"/>
                        </a:rPr>
                        <a:t>Voltage (kV)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a:latin typeface="Segoe UI Variable Display" pitchFamily="2" charset="0"/>
                        </a:rPr>
                        <a:t>Reactive Power (kVAR)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2599457"/>
                  </a:ext>
                </a:extLst>
              </a:tr>
              <a:tr h="260870">
                <a:tc>
                  <a:txBody>
                    <a:bodyPr/>
                    <a:lstStyle/>
                    <a:p>
                      <a:pPr algn="ctr"/>
                      <a:r>
                        <a:rPr lang="en-IN" sz="1200">
                          <a:latin typeface="Segoe UI Variable Display" pitchFamily="2" charset="0"/>
                        </a:rPr>
                        <a:t>Cap3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a:latin typeface="Segoe UI Variable Display" pitchFamily="2" charset="0"/>
                        </a:rPr>
                        <a:t>671.1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a:latin typeface="Segoe UI Variable Display" pitchFamily="2"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a:latin typeface="Segoe UI Variable Display" pitchFamily="2"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a:latin typeface="Segoe UI Variable Display" pitchFamily="2"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3534168"/>
                  </a:ext>
                </a:extLst>
              </a:tr>
              <a:tr h="260870">
                <a:tc>
                  <a:txBody>
                    <a:bodyPr/>
                    <a:lstStyle/>
                    <a:p>
                      <a:pPr algn="ctr"/>
                      <a:r>
                        <a:rPr lang="en-IN" sz="1200">
                          <a:latin typeface="Segoe UI Variable Display" pitchFamily="2" charset="0"/>
                        </a:rPr>
                        <a:t>Cap4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a:latin typeface="Segoe UI Variable Display" pitchFamily="2" charset="0"/>
                        </a:rPr>
                        <a:t>680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a:latin typeface="Segoe UI Variable Display" pitchFamily="2"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latin typeface="Segoe UI Variable Display" pitchFamily="2" charset="0"/>
                        </a:rPr>
                        <a:t>4.16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a:latin typeface="Segoe UI Variable Display" pitchFamily="2"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8617362"/>
                  </a:ext>
                </a:extLst>
              </a:tr>
              <a:tr h="260870">
                <a:tc>
                  <a:txBody>
                    <a:bodyPr/>
                    <a:lstStyle/>
                    <a:p>
                      <a:pPr algn="ctr"/>
                      <a:r>
                        <a:rPr lang="en-IN" sz="1200">
                          <a:latin typeface="Segoe UI Variable Display" pitchFamily="2" charset="0"/>
                        </a:rPr>
                        <a:t>Cap5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a:latin typeface="Segoe UI Variable Display" pitchFamily="2" charset="0"/>
                        </a:rPr>
                        <a:t>684.3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a:latin typeface="Segoe UI Variable Display" pitchFamily="2"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a:latin typeface="Segoe UI Variable Display" pitchFamily="2"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a:latin typeface="Segoe UI Variable Display" pitchFamily="2"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8485688"/>
                  </a:ext>
                </a:extLst>
              </a:tr>
              <a:tr h="148408">
                <a:tc>
                  <a:txBody>
                    <a:bodyPr/>
                    <a:lstStyle/>
                    <a:p>
                      <a:pPr algn="ctr"/>
                      <a:r>
                        <a:rPr lang="en-IN" sz="1200">
                          <a:latin typeface="Segoe UI Variable Display" pitchFamily="2" charset="0"/>
                        </a:rPr>
                        <a:t>Cap6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latin typeface="Segoe UI Variable Display" pitchFamily="2" charset="0"/>
                        </a:rPr>
                        <a:t>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a:latin typeface="Segoe UI Variable Display" pitchFamily="2"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a:latin typeface="Segoe UI Variable Display" pitchFamily="2" charset="0"/>
                        </a:rPr>
                        <a:t>4.16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latin typeface="Segoe UI Variable Display" pitchFamily="2" charset="0"/>
                        </a:rPr>
                        <a:t>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5506748"/>
                  </a:ext>
                </a:extLst>
              </a:tr>
            </a:tbl>
          </a:graphicData>
        </a:graphic>
      </p:graphicFrame>
      <p:sp>
        <p:nvSpPr>
          <p:cNvPr id="10" name="Rectangle 1">
            <a:extLst>
              <a:ext uri="{FF2B5EF4-FFF2-40B4-BE49-F238E27FC236}">
                <a16:creationId xmlns:a16="http://schemas.microsoft.com/office/drawing/2014/main" id="{62E18ABF-D931-4CEF-A537-93F26924A159}"/>
              </a:ext>
            </a:extLst>
          </p:cNvPr>
          <p:cNvSpPr>
            <a:spLocks noChangeArrowheads="1"/>
          </p:cNvSpPr>
          <p:nvPr/>
        </p:nvSpPr>
        <p:spPr bwMode="auto">
          <a:xfrm>
            <a:off x="821267" y="5131784"/>
            <a:ext cx="579120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Segoe UI Variable Display" pitchFamily="2" charset="0"/>
              </a:rPr>
              <a:t>Agricultural Pumps</a:t>
            </a:r>
            <a:endParaRPr kumimoji="0" lang="en-US" altLang="en-US" sz="1100" b="0" i="0" u="none" strike="noStrike" cap="none" normalizeH="0" baseline="0" dirty="0">
              <a:ln>
                <a:noFill/>
              </a:ln>
              <a:solidFill>
                <a:schemeClr val="tx1"/>
              </a:solidFill>
              <a:effectLst/>
              <a:latin typeface="Segoe UI Variable Display"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dirty="0">
                <a:ln>
                  <a:noFill/>
                </a:ln>
                <a:solidFill>
                  <a:schemeClr val="tx1"/>
                </a:solidFill>
                <a:effectLst/>
                <a:latin typeface="Segoe UI Variable Display" pitchFamily="2" charset="0"/>
              </a:rPr>
              <a:t>Permanently installed for irrigation, causes continuous </a:t>
            </a:r>
            <a:r>
              <a:rPr kumimoji="0" lang="en-US" altLang="en-US" sz="1100" b="1" i="0" u="none" strike="noStrike" cap="none" normalizeH="0" baseline="0" dirty="0">
                <a:ln>
                  <a:noFill/>
                </a:ln>
                <a:solidFill>
                  <a:schemeClr val="tx1"/>
                </a:solidFill>
                <a:effectLst/>
                <a:latin typeface="Segoe UI Variable Display" pitchFamily="2" charset="0"/>
              </a:rPr>
              <a:t>motor load </a:t>
            </a:r>
            <a:r>
              <a:rPr kumimoji="0" lang="en-US" altLang="en-US" sz="1100" b="0" i="0" u="none" strike="noStrike" cap="none" normalizeH="0" baseline="0" dirty="0">
                <a:ln>
                  <a:noFill/>
                </a:ln>
                <a:solidFill>
                  <a:schemeClr val="tx1"/>
                </a:solidFill>
                <a:effectLst/>
                <a:latin typeface="Segoe UI Variable Display" pitchFamily="2" charset="0"/>
              </a:rPr>
              <a:t>to the feeder.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err="1">
                <a:ln>
                  <a:noFill/>
                </a:ln>
                <a:solidFill>
                  <a:schemeClr val="tx1"/>
                </a:solidFill>
                <a:effectLst/>
                <a:latin typeface="Segoe UI Variable Display" pitchFamily="2" charset="0"/>
              </a:rPr>
              <a:t>Agro</a:t>
            </a:r>
            <a:r>
              <a:rPr kumimoji="0" lang="en-US" altLang="en-US" sz="1100" b="1" i="0" u="none" strike="noStrike" cap="none" normalizeH="0" baseline="0" dirty="0">
                <a:ln>
                  <a:noFill/>
                </a:ln>
                <a:solidFill>
                  <a:schemeClr val="tx1"/>
                </a:solidFill>
                <a:effectLst/>
                <a:latin typeface="Segoe UI Variable Display" pitchFamily="2" charset="0"/>
              </a:rPr>
              <a:t> Mills</a:t>
            </a:r>
            <a:endParaRPr kumimoji="0" lang="en-US" altLang="en-US" sz="1100" b="0" i="0" u="none" strike="noStrike" cap="none" normalizeH="0" baseline="0" dirty="0">
              <a:ln>
                <a:noFill/>
              </a:ln>
              <a:solidFill>
                <a:schemeClr val="tx1"/>
              </a:solidFill>
              <a:effectLst/>
              <a:latin typeface="Segoe UI Variable Display"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100" dirty="0">
                <a:latin typeface="Segoe UI Variable Display" pitchFamily="2" charset="0"/>
              </a:rPr>
              <a:t>Addition </a:t>
            </a:r>
            <a:r>
              <a:rPr kumimoji="0" lang="en-US" altLang="en-US" sz="1100" b="0" i="0" u="none" strike="noStrike" cap="none" normalizeH="0" baseline="0" dirty="0">
                <a:ln>
                  <a:noFill/>
                </a:ln>
                <a:solidFill>
                  <a:schemeClr val="tx1"/>
                </a:solidFill>
                <a:effectLst/>
                <a:latin typeface="Segoe UI Variable Display" pitchFamily="2" charset="0"/>
              </a:rPr>
              <a:t>industrial loads draw high power and increase feeder demand.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Segoe UI Variable Display" pitchFamily="2" charset="0"/>
              </a:rPr>
              <a:t>Residential ACs &amp; Fans</a:t>
            </a:r>
            <a:endParaRPr kumimoji="0" lang="en-US" altLang="en-US" sz="1100" b="0" i="0" u="none" strike="noStrike" cap="none" normalizeH="0" baseline="0" dirty="0">
              <a:ln>
                <a:noFill/>
              </a:ln>
              <a:solidFill>
                <a:schemeClr val="tx1"/>
              </a:solidFill>
              <a:effectLst/>
              <a:latin typeface="Segoe UI Variable Display"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dirty="0">
                <a:ln>
                  <a:noFill/>
                </a:ln>
                <a:solidFill>
                  <a:schemeClr val="tx1"/>
                </a:solidFill>
                <a:effectLst/>
                <a:latin typeface="Segoe UI Variable Display" pitchFamily="2" charset="0"/>
              </a:rPr>
              <a:t>Newly connected cooling loads raise peak and base demand.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Segoe UI Variable Display" pitchFamily="2" charset="0"/>
              </a:rPr>
              <a:t>School Loads</a:t>
            </a:r>
            <a:endParaRPr kumimoji="0" lang="en-US" altLang="en-US" sz="1100" b="0" i="0" u="none" strike="noStrike" cap="none" normalizeH="0" baseline="0" dirty="0">
              <a:ln>
                <a:noFill/>
              </a:ln>
              <a:solidFill>
                <a:schemeClr val="tx1"/>
              </a:solidFill>
              <a:effectLst/>
              <a:latin typeface="Segoe UI Variable Display"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dirty="0">
                <a:ln>
                  <a:noFill/>
                </a:ln>
                <a:solidFill>
                  <a:schemeClr val="tx1"/>
                </a:solidFill>
                <a:effectLst/>
                <a:latin typeface="Segoe UI Variable Display" pitchFamily="2" charset="0"/>
              </a:rPr>
              <a:t>Regular daytime loads (fans, lights, ACs) adds to feeder loading.</a:t>
            </a:r>
          </a:p>
        </p:txBody>
      </p:sp>
      <p:sp>
        <p:nvSpPr>
          <p:cNvPr id="12" name="Rectangle 1">
            <a:extLst>
              <a:ext uri="{FF2B5EF4-FFF2-40B4-BE49-F238E27FC236}">
                <a16:creationId xmlns:a16="http://schemas.microsoft.com/office/drawing/2014/main" id="{3DB6811B-8A17-4FAC-9632-150F334C0B8C}"/>
              </a:ext>
            </a:extLst>
          </p:cNvPr>
          <p:cNvSpPr>
            <a:spLocks noChangeArrowheads="1"/>
          </p:cNvSpPr>
          <p:nvPr/>
        </p:nvSpPr>
        <p:spPr bwMode="auto">
          <a:xfrm>
            <a:off x="6477000" y="5305709"/>
            <a:ext cx="48514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n-US" sz="1400" dirty="0">
                <a:latin typeface="Segoe UI Variable Display" pitchFamily="2" charset="0"/>
              </a:rPr>
              <a:t>As a result more current absorption will be take place.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n-US" sz="1400" dirty="0">
                <a:latin typeface="Segoe UI Variable Display" pitchFamily="2" charset="0"/>
              </a:rPr>
              <a:t>To</a:t>
            </a:r>
            <a:r>
              <a:rPr kumimoji="0" lang="en-US" altLang="en-US" sz="1400" b="0" i="0" u="none" strike="noStrike" cap="none" normalizeH="0" baseline="0" dirty="0">
                <a:ln>
                  <a:noFill/>
                </a:ln>
                <a:solidFill>
                  <a:schemeClr val="tx1"/>
                </a:solidFill>
                <a:effectLst/>
                <a:latin typeface="Segoe UI Variable Display" pitchFamily="2" charset="0"/>
              </a:rPr>
              <a:t> balance the current losses compensation capacitors were added at subsequent places</a:t>
            </a:r>
          </a:p>
        </p:txBody>
      </p:sp>
    </p:spTree>
    <p:extLst>
      <p:ext uri="{BB962C8B-B14F-4D97-AF65-F5344CB8AC3E}">
        <p14:creationId xmlns:p14="http://schemas.microsoft.com/office/powerpoint/2010/main" val="1615335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B3532-0C14-4C23-B380-E0A2CE285CD5}"/>
              </a:ext>
            </a:extLst>
          </p:cNvPr>
          <p:cNvSpPr>
            <a:spLocks noGrp="1"/>
          </p:cNvSpPr>
          <p:nvPr>
            <p:ph type="title"/>
          </p:nvPr>
        </p:nvSpPr>
        <p:spPr>
          <a:xfrm>
            <a:off x="399785" y="0"/>
            <a:ext cx="10515600" cy="933714"/>
          </a:xfrm>
        </p:spPr>
        <p:txBody>
          <a:bodyPr>
            <a:normAutofit/>
          </a:bodyPr>
          <a:lstStyle/>
          <a:p>
            <a:r>
              <a:rPr lang="en-IN" sz="3600" b="1" dirty="0">
                <a:latin typeface="Segoe UI Variable Display" pitchFamily="2" charset="0"/>
              </a:rPr>
              <a:t>BUS DATA</a:t>
            </a:r>
          </a:p>
        </p:txBody>
      </p:sp>
      <p:sp>
        <p:nvSpPr>
          <p:cNvPr id="3" name="Content Placeholder 2">
            <a:extLst>
              <a:ext uri="{FF2B5EF4-FFF2-40B4-BE49-F238E27FC236}">
                <a16:creationId xmlns:a16="http://schemas.microsoft.com/office/drawing/2014/main" id="{02EB16C2-5E2D-46DE-A55C-B7EE97EBC9F4}"/>
              </a:ext>
            </a:extLst>
          </p:cNvPr>
          <p:cNvSpPr>
            <a:spLocks noGrp="1"/>
          </p:cNvSpPr>
          <p:nvPr>
            <p:ph idx="1"/>
          </p:nvPr>
        </p:nvSpPr>
        <p:spPr>
          <a:xfrm>
            <a:off x="838200" y="1286933"/>
            <a:ext cx="3268133" cy="397934"/>
          </a:xfrm>
        </p:spPr>
        <p:txBody>
          <a:bodyPr>
            <a:normAutofit/>
          </a:bodyPr>
          <a:lstStyle/>
          <a:p>
            <a:pPr marL="0" indent="0">
              <a:buNone/>
            </a:pPr>
            <a:r>
              <a:rPr lang="en-IN" sz="1800" b="1" dirty="0">
                <a:latin typeface="Segoe UI Variable Display" pitchFamily="2" charset="0"/>
              </a:rPr>
              <a:t> 1.VOLTAGE REGULATORS :</a:t>
            </a:r>
          </a:p>
        </p:txBody>
      </p:sp>
      <p:graphicFrame>
        <p:nvGraphicFramePr>
          <p:cNvPr id="4" name="Table 3">
            <a:extLst>
              <a:ext uri="{FF2B5EF4-FFF2-40B4-BE49-F238E27FC236}">
                <a16:creationId xmlns:a16="http://schemas.microsoft.com/office/drawing/2014/main" id="{1D371846-44DB-40E2-B6C3-816E27CC151D}"/>
              </a:ext>
            </a:extLst>
          </p:cNvPr>
          <p:cNvGraphicFramePr>
            <a:graphicFrameLocks noGrp="1"/>
          </p:cNvGraphicFramePr>
          <p:nvPr>
            <p:extLst>
              <p:ext uri="{D42A27DB-BD31-4B8C-83A1-F6EECF244321}">
                <p14:modId xmlns:p14="http://schemas.microsoft.com/office/powerpoint/2010/main" val="2995616305"/>
              </p:ext>
            </p:extLst>
          </p:nvPr>
        </p:nvGraphicFramePr>
        <p:xfrm>
          <a:off x="683490" y="1776042"/>
          <a:ext cx="10898910" cy="1325564"/>
        </p:xfrm>
        <a:graphic>
          <a:graphicData uri="http://schemas.openxmlformats.org/drawingml/2006/table">
            <a:tbl>
              <a:tblPr/>
              <a:tblGrid>
                <a:gridCol w="1182193">
                  <a:extLst>
                    <a:ext uri="{9D8B030D-6E8A-4147-A177-3AD203B41FA5}">
                      <a16:colId xmlns:a16="http://schemas.microsoft.com/office/drawing/2014/main" val="4250870862"/>
                    </a:ext>
                  </a:extLst>
                </a:gridCol>
                <a:gridCol w="1286772">
                  <a:extLst>
                    <a:ext uri="{9D8B030D-6E8A-4147-A177-3AD203B41FA5}">
                      <a16:colId xmlns:a16="http://schemas.microsoft.com/office/drawing/2014/main" val="2612777767"/>
                    </a:ext>
                  </a:extLst>
                </a:gridCol>
                <a:gridCol w="800711">
                  <a:extLst>
                    <a:ext uri="{9D8B030D-6E8A-4147-A177-3AD203B41FA5}">
                      <a16:colId xmlns:a16="http://schemas.microsoft.com/office/drawing/2014/main" val="2923652090"/>
                    </a:ext>
                  </a:extLst>
                </a:gridCol>
                <a:gridCol w="1083071">
                  <a:extLst>
                    <a:ext uri="{9D8B030D-6E8A-4147-A177-3AD203B41FA5}">
                      <a16:colId xmlns:a16="http://schemas.microsoft.com/office/drawing/2014/main" val="2791772725"/>
                    </a:ext>
                  </a:extLst>
                </a:gridCol>
                <a:gridCol w="717043">
                  <a:extLst>
                    <a:ext uri="{9D8B030D-6E8A-4147-A177-3AD203B41FA5}">
                      <a16:colId xmlns:a16="http://schemas.microsoft.com/office/drawing/2014/main" val="4080431388"/>
                    </a:ext>
                  </a:extLst>
                </a:gridCol>
                <a:gridCol w="618378">
                  <a:extLst>
                    <a:ext uri="{9D8B030D-6E8A-4147-A177-3AD203B41FA5}">
                      <a16:colId xmlns:a16="http://schemas.microsoft.com/office/drawing/2014/main" val="835204793"/>
                    </a:ext>
                  </a:extLst>
                </a:gridCol>
                <a:gridCol w="700223">
                  <a:extLst>
                    <a:ext uri="{9D8B030D-6E8A-4147-A177-3AD203B41FA5}">
                      <a16:colId xmlns:a16="http://schemas.microsoft.com/office/drawing/2014/main" val="3709210576"/>
                    </a:ext>
                  </a:extLst>
                </a:gridCol>
                <a:gridCol w="827534">
                  <a:extLst>
                    <a:ext uri="{9D8B030D-6E8A-4147-A177-3AD203B41FA5}">
                      <a16:colId xmlns:a16="http://schemas.microsoft.com/office/drawing/2014/main" val="1897951317"/>
                    </a:ext>
                  </a:extLst>
                </a:gridCol>
                <a:gridCol w="1136725">
                  <a:extLst>
                    <a:ext uri="{9D8B030D-6E8A-4147-A177-3AD203B41FA5}">
                      <a16:colId xmlns:a16="http://schemas.microsoft.com/office/drawing/2014/main" val="2978316999"/>
                    </a:ext>
                  </a:extLst>
                </a:gridCol>
                <a:gridCol w="845723">
                  <a:extLst>
                    <a:ext uri="{9D8B030D-6E8A-4147-A177-3AD203B41FA5}">
                      <a16:colId xmlns:a16="http://schemas.microsoft.com/office/drawing/2014/main" val="2270090569"/>
                    </a:ext>
                  </a:extLst>
                </a:gridCol>
                <a:gridCol w="936660">
                  <a:extLst>
                    <a:ext uri="{9D8B030D-6E8A-4147-A177-3AD203B41FA5}">
                      <a16:colId xmlns:a16="http://schemas.microsoft.com/office/drawing/2014/main" val="4151766061"/>
                    </a:ext>
                  </a:extLst>
                </a:gridCol>
                <a:gridCol w="763877">
                  <a:extLst>
                    <a:ext uri="{9D8B030D-6E8A-4147-A177-3AD203B41FA5}">
                      <a16:colId xmlns:a16="http://schemas.microsoft.com/office/drawing/2014/main" val="2467602695"/>
                    </a:ext>
                  </a:extLst>
                </a:gridCol>
              </a:tblGrid>
              <a:tr h="479459">
                <a:tc>
                  <a:txBody>
                    <a:bodyPr/>
                    <a:lstStyle/>
                    <a:p>
                      <a:pPr algn="ctr"/>
                      <a:r>
                        <a:rPr lang="en-IN" sz="1100" b="1" dirty="0">
                          <a:latin typeface="Segoe UI Variable Display" pitchFamily="2" charset="0"/>
                        </a:rPr>
                        <a:t>REGULATOR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TRANSFORMER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PHASE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FROM BUS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TO BUS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KV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KVA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VREG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PT RATIO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CT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4926591"/>
                  </a:ext>
                </a:extLst>
              </a:tr>
              <a:tr h="282035">
                <a:tc>
                  <a:txBody>
                    <a:bodyPr/>
                    <a:lstStyle/>
                    <a:p>
                      <a:pPr algn="ctr"/>
                      <a:r>
                        <a:rPr lang="en-IN" sz="1100">
                          <a:latin typeface="Segoe UI Variable Display" pitchFamily="2" charset="0"/>
                        </a:rPr>
                        <a:t>Reg1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Reg1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650.1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RG60.1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1666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122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700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573592"/>
                  </a:ext>
                </a:extLst>
              </a:tr>
              <a:tr h="282035">
                <a:tc>
                  <a:txBody>
                    <a:bodyPr/>
                    <a:lstStyle/>
                    <a:p>
                      <a:pPr algn="ctr"/>
                      <a:r>
                        <a:rPr lang="en-IN" sz="1100">
                          <a:latin typeface="Segoe UI Variable Display" pitchFamily="2" charset="0"/>
                        </a:rPr>
                        <a:t>Reg2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Reg2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650.2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RG60.2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1666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122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700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2901188"/>
                  </a:ext>
                </a:extLst>
              </a:tr>
              <a:tr h="282035">
                <a:tc>
                  <a:txBody>
                    <a:bodyPr/>
                    <a:lstStyle/>
                    <a:p>
                      <a:pPr algn="ctr"/>
                      <a:r>
                        <a:rPr lang="en-IN" sz="1100" dirty="0">
                          <a:latin typeface="Segoe UI Variable Display" pitchFamily="2" charset="0"/>
                        </a:rPr>
                        <a:t>Reg3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Reg3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650.3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RG60.3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1666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122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700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4249042"/>
                  </a:ext>
                </a:extLst>
              </a:tr>
            </a:tbl>
          </a:graphicData>
        </a:graphic>
      </p:graphicFrame>
      <p:sp>
        <p:nvSpPr>
          <p:cNvPr id="6" name="TextBox 5">
            <a:extLst>
              <a:ext uri="{FF2B5EF4-FFF2-40B4-BE49-F238E27FC236}">
                <a16:creationId xmlns:a16="http://schemas.microsoft.com/office/drawing/2014/main" id="{444347F2-544B-47C4-AA4F-90E1195CF654}"/>
              </a:ext>
            </a:extLst>
          </p:cNvPr>
          <p:cNvSpPr txBox="1"/>
          <p:nvPr/>
        </p:nvSpPr>
        <p:spPr>
          <a:xfrm>
            <a:off x="931334" y="3385186"/>
            <a:ext cx="6096000" cy="369332"/>
          </a:xfrm>
          <a:prstGeom prst="rect">
            <a:avLst/>
          </a:prstGeom>
          <a:noFill/>
        </p:spPr>
        <p:txBody>
          <a:bodyPr wrap="square">
            <a:spAutoFit/>
          </a:bodyPr>
          <a:lstStyle/>
          <a:p>
            <a:pPr marL="0" indent="0">
              <a:buNone/>
            </a:pPr>
            <a:r>
              <a:rPr lang="en-IN" b="1" dirty="0">
                <a:latin typeface="Segoe UI Variable Display" pitchFamily="2" charset="0"/>
              </a:rPr>
              <a:t>2.TRANSFORMERS :</a:t>
            </a:r>
          </a:p>
        </p:txBody>
      </p:sp>
      <p:graphicFrame>
        <p:nvGraphicFramePr>
          <p:cNvPr id="7" name="Table 6">
            <a:extLst>
              <a:ext uri="{FF2B5EF4-FFF2-40B4-BE49-F238E27FC236}">
                <a16:creationId xmlns:a16="http://schemas.microsoft.com/office/drawing/2014/main" id="{8450DE0D-36BE-4774-9B2A-647840274C7B}"/>
              </a:ext>
            </a:extLst>
          </p:cNvPr>
          <p:cNvGraphicFramePr>
            <a:graphicFrameLocks noGrp="1"/>
          </p:cNvGraphicFramePr>
          <p:nvPr>
            <p:extLst>
              <p:ext uri="{D42A27DB-BD31-4B8C-83A1-F6EECF244321}">
                <p14:modId xmlns:p14="http://schemas.microsoft.com/office/powerpoint/2010/main" val="267924765"/>
              </p:ext>
            </p:extLst>
          </p:nvPr>
        </p:nvGraphicFramePr>
        <p:xfrm>
          <a:off x="683490" y="3976478"/>
          <a:ext cx="11009748" cy="777240"/>
        </p:xfrm>
        <a:graphic>
          <a:graphicData uri="http://schemas.openxmlformats.org/drawingml/2006/table">
            <a:tbl>
              <a:tblPr/>
              <a:tblGrid>
                <a:gridCol w="917479">
                  <a:extLst>
                    <a:ext uri="{9D8B030D-6E8A-4147-A177-3AD203B41FA5}">
                      <a16:colId xmlns:a16="http://schemas.microsoft.com/office/drawing/2014/main" val="3404378843"/>
                    </a:ext>
                  </a:extLst>
                </a:gridCol>
                <a:gridCol w="917479">
                  <a:extLst>
                    <a:ext uri="{9D8B030D-6E8A-4147-A177-3AD203B41FA5}">
                      <a16:colId xmlns:a16="http://schemas.microsoft.com/office/drawing/2014/main" val="3761688377"/>
                    </a:ext>
                  </a:extLst>
                </a:gridCol>
                <a:gridCol w="917479">
                  <a:extLst>
                    <a:ext uri="{9D8B030D-6E8A-4147-A177-3AD203B41FA5}">
                      <a16:colId xmlns:a16="http://schemas.microsoft.com/office/drawing/2014/main" val="4294832174"/>
                    </a:ext>
                  </a:extLst>
                </a:gridCol>
                <a:gridCol w="917479">
                  <a:extLst>
                    <a:ext uri="{9D8B030D-6E8A-4147-A177-3AD203B41FA5}">
                      <a16:colId xmlns:a16="http://schemas.microsoft.com/office/drawing/2014/main" val="228201688"/>
                    </a:ext>
                  </a:extLst>
                </a:gridCol>
                <a:gridCol w="917479">
                  <a:extLst>
                    <a:ext uri="{9D8B030D-6E8A-4147-A177-3AD203B41FA5}">
                      <a16:colId xmlns:a16="http://schemas.microsoft.com/office/drawing/2014/main" val="3923061543"/>
                    </a:ext>
                  </a:extLst>
                </a:gridCol>
                <a:gridCol w="917479">
                  <a:extLst>
                    <a:ext uri="{9D8B030D-6E8A-4147-A177-3AD203B41FA5}">
                      <a16:colId xmlns:a16="http://schemas.microsoft.com/office/drawing/2014/main" val="1080801474"/>
                    </a:ext>
                  </a:extLst>
                </a:gridCol>
                <a:gridCol w="917479">
                  <a:extLst>
                    <a:ext uri="{9D8B030D-6E8A-4147-A177-3AD203B41FA5}">
                      <a16:colId xmlns:a16="http://schemas.microsoft.com/office/drawing/2014/main" val="3168571002"/>
                    </a:ext>
                  </a:extLst>
                </a:gridCol>
                <a:gridCol w="917479">
                  <a:extLst>
                    <a:ext uri="{9D8B030D-6E8A-4147-A177-3AD203B41FA5}">
                      <a16:colId xmlns:a16="http://schemas.microsoft.com/office/drawing/2014/main" val="1402105967"/>
                    </a:ext>
                  </a:extLst>
                </a:gridCol>
                <a:gridCol w="917479">
                  <a:extLst>
                    <a:ext uri="{9D8B030D-6E8A-4147-A177-3AD203B41FA5}">
                      <a16:colId xmlns:a16="http://schemas.microsoft.com/office/drawing/2014/main" val="2208586720"/>
                    </a:ext>
                  </a:extLst>
                </a:gridCol>
                <a:gridCol w="917479">
                  <a:extLst>
                    <a:ext uri="{9D8B030D-6E8A-4147-A177-3AD203B41FA5}">
                      <a16:colId xmlns:a16="http://schemas.microsoft.com/office/drawing/2014/main" val="174841533"/>
                    </a:ext>
                  </a:extLst>
                </a:gridCol>
                <a:gridCol w="917479">
                  <a:extLst>
                    <a:ext uri="{9D8B030D-6E8A-4147-A177-3AD203B41FA5}">
                      <a16:colId xmlns:a16="http://schemas.microsoft.com/office/drawing/2014/main" val="2433209984"/>
                    </a:ext>
                  </a:extLst>
                </a:gridCol>
                <a:gridCol w="917479">
                  <a:extLst>
                    <a:ext uri="{9D8B030D-6E8A-4147-A177-3AD203B41FA5}">
                      <a16:colId xmlns:a16="http://schemas.microsoft.com/office/drawing/2014/main" val="3550203723"/>
                    </a:ext>
                  </a:extLst>
                </a:gridCol>
              </a:tblGrid>
              <a:tr h="0">
                <a:tc>
                  <a:txBody>
                    <a:bodyPr/>
                    <a:lstStyle/>
                    <a:p>
                      <a:pPr algn="ctr"/>
                      <a:r>
                        <a:rPr lang="en-IN" sz="1100" b="1" dirty="0">
                          <a:latin typeface="Segoe UI Variable Display" pitchFamily="2" charset="0"/>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PHASES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WINDINGS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BUS1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BUS2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CONN1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CONN2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KV1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KV2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KVA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XHL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8359535"/>
                  </a:ext>
                </a:extLst>
              </a:tr>
              <a:tr h="0">
                <a:tc>
                  <a:txBody>
                    <a:bodyPr/>
                    <a:lstStyle/>
                    <a:p>
                      <a:pPr algn="ctr"/>
                      <a:r>
                        <a:rPr lang="en-IN" sz="1100">
                          <a:latin typeface="Segoe UI Variable Display" pitchFamily="2" charset="0"/>
                        </a:rPr>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err="1">
                          <a:latin typeface="Segoe UI Variable Display" pitchFamily="2" charset="0"/>
                        </a:rPr>
                        <a:t>SourceBus</a:t>
                      </a:r>
                      <a:endParaRPr lang="en-IN" sz="1100" dirty="0">
                        <a:latin typeface="Segoe UI Variable Display"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650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Delta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Wye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115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4.16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0463300"/>
                  </a:ext>
                </a:extLst>
              </a:tr>
              <a:tr h="0">
                <a:tc>
                  <a:txBody>
                    <a:bodyPr/>
                    <a:lstStyle/>
                    <a:p>
                      <a:pPr algn="ctr"/>
                      <a:r>
                        <a:rPr lang="en-IN" sz="1100">
                          <a:latin typeface="Segoe UI Variable Display" pitchFamily="2" charset="0"/>
                        </a:rPr>
                        <a:t>XFM1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633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634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Wye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Wye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4.16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0.48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0.55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019539"/>
                  </a:ext>
                </a:extLst>
              </a:tr>
            </a:tbl>
          </a:graphicData>
        </a:graphic>
      </p:graphicFrame>
      <p:sp>
        <p:nvSpPr>
          <p:cNvPr id="9" name="TextBox 8">
            <a:extLst>
              <a:ext uri="{FF2B5EF4-FFF2-40B4-BE49-F238E27FC236}">
                <a16:creationId xmlns:a16="http://schemas.microsoft.com/office/drawing/2014/main" id="{A941F45D-B0FA-4337-AC4F-E5724902C1A4}"/>
              </a:ext>
            </a:extLst>
          </p:cNvPr>
          <p:cNvSpPr txBox="1"/>
          <p:nvPr/>
        </p:nvSpPr>
        <p:spPr>
          <a:xfrm>
            <a:off x="931334" y="5085505"/>
            <a:ext cx="6096000" cy="369332"/>
          </a:xfrm>
          <a:prstGeom prst="rect">
            <a:avLst/>
          </a:prstGeom>
          <a:noFill/>
        </p:spPr>
        <p:txBody>
          <a:bodyPr wrap="square">
            <a:spAutoFit/>
          </a:bodyPr>
          <a:lstStyle/>
          <a:p>
            <a:pPr marL="0" indent="0">
              <a:buNone/>
            </a:pPr>
            <a:r>
              <a:rPr lang="en-IN" b="1" dirty="0">
                <a:latin typeface="Segoe UI Variable Display" pitchFamily="2" charset="0"/>
              </a:rPr>
              <a:t>3.CAPACITORS :</a:t>
            </a:r>
          </a:p>
        </p:txBody>
      </p:sp>
      <p:graphicFrame>
        <p:nvGraphicFramePr>
          <p:cNvPr id="10" name="Table 9">
            <a:extLst>
              <a:ext uri="{FF2B5EF4-FFF2-40B4-BE49-F238E27FC236}">
                <a16:creationId xmlns:a16="http://schemas.microsoft.com/office/drawing/2014/main" id="{EE2B6614-8BD0-4075-AE9B-630F519A1062}"/>
              </a:ext>
            </a:extLst>
          </p:cNvPr>
          <p:cNvGraphicFramePr>
            <a:graphicFrameLocks noGrp="1"/>
          </p:cNvGraphicFramePr>
          <p:nvPr>
            <p:extLst>
              <p:ext uri="{D42A27DB-BD31-4B8C-83A1-F6EECF244321}">
                <p14:modId xmlns:p14="http://schemas.microsoft.com/office/powerpoint/2010/main" val="4094532534"/>
              </p:ext>
            </p:extLst>
          </p:nvPr>
        </p:nvGraphicFramePr>
        <p:xfrm>
          <a:off x="3060700" y="5492759"/>
          <a:ext cx="6731000" cy="777240"/>
        </p:xfrm>
        <a:graphic>
          <a:graphicData uri="http://schemas.openxmlformats.org/drawingml/2006/table">
            <a:tbl>
              <a:tblPr/>
              <a:tblGrid>
                <a:gridCol w="1346200">
                  <a:extLst>
                    <a:ext uri="{9D8B030D-6E8A-4147-A177-3AD203B41FA5}">
                      <a16:colId xmlns:a16="http://schemas.microsoft.com/office/drawing/2014/main" val="2977508498"/>
                    </a:ext>
                  </a:extLst>
                </a:gridCol>
                <a:gridCol w="1346200">
                  <a:extLst>
                    <a:ext uri="{9D8B030D-6E8A-4147-A177-3AD203B41FA5}">
                      <a16:colId xmlns:a16="http://schemas.microsoft.com/office/drawing/2014/main" val="1578943748"/>
                    </a:ext>
                  </a:extLst>
                </a:gridCol>
                <a:gridCol w="1346200">
                  <a:extLst>
                    <a:ext uri="{9D8B030D-6E8A-4147-A177-3AD203B41FA5}">
                      <a16:colId xmlns:a16="http://schemas.microsoft.com/office/drawing/2014/main" val="2769775835"/>
                    </a:ext>
                  </a:extLst>
                </a:gridCol>
                <a:gridCol w="1346200">
                  <a:extLst>
                    <a:ext uri="{9D8B030D-6E8A-4147-A177-3AD203B41FA5}">
                      <a16:colId xmlns:a16="http://schemas.microsoft.com/office/drawing/2014/main" val="3183294093"/>
                    </a:ext>
                  </a:extLst>
                </a:gridCol>
                <a:gridCol w="1346200">
                  <a:extLst>
                    <a:ext uri="{9D8B030D-6E8A-4147-A177-3AD203B41FA5}">
                      <a16:colId xmlns:a16="http://schemas.microsoft.com/office/drawing/2014/main" val="989330907"/>
                    </a:ext>
                  </a:extLst>
                </a:gridCol>
              </a:tblGrid>
              <a:tr h="0">
                <a:tc>
                  <a:txBody>
                    <a:bodyPr/>
                    <a:lstStyle/>
                    <a:p>
                      <a:pPr algn="ctr"/>
                      <a:r>
                        <a:rPr lang="en-IN" sz="1100" b="1" dirty="0">
                          <a:latin typeface="Segoe UI Variable Display" pitchFamily="2" charset="0"/>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BUS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PHASES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KV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KVAR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7304437"/>
                  </a:ext>
                </a:extLst>
              </a:tr>
              <a:tr h="0">
                <a:tc>
                  <a:txBody>
                    <a:bodyPr/>
                    <a:lstStyle/>
                    <a:p>
                      <a:pPr algn="ctr"/>
                      <a:r>
                        <a:rPr lang="en-IN" sz="1100">
                          <a:latin typeface="Segoe UI Variable Display" pitchFamily="2" charset="0"/>
                        </a:rPr>
                        <a:t>Cap1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675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4.16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600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1572037"/>
                  </a:ext>
                </a:extLst>
              </a:tr>
              <a:tr h="0">
                <a:tc>
                  <a:txBody>
                    <a:bodyPr/>
                    <a:lstStyle/>
                    <a:p>
                      <a:pPr algn="ctr"/>
                      <a:r>
                        <a:rPr lang="en-IN" sz="1100" dirty="0">
                          <a:latin typeface="Segoe UI Variable Display" pitchFamily="2" charset="0"/>
                        </a:rPr>
                        <a:t>Cap2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611.3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8746783"/>
                  </a:ext>
                </a:extLst>
              </a:tr>
            </a:tbl>
          </a:graphicData>
        </a:graphic>
      </p:graphicFrame>
      <p:pic>
        <p:nvPicPr>
          <p:cNvPr id="11" name="Picture 4" descr="SASTRA University (@SASTRA_Univ ...">
            <a:extLst>
              <a:ext uri="{FF2B5EF4-FFF2-40B4-BE49-F238E27FC236}">
                <a16:creationId xmlns:a16="http://schemas.microsoft.com/office/drawing/2014/main" id="{8684F28E-4C77-4488-A6D8-0B750694EE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5385" y="199496"/>
            <a:ext cx="876830" cy="87683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2F88C06-E25B-4B90-A186-4006B928B324}"/>
              </a:ext>
            </a:extLst>
          </p:cNvPr>
          <p:cNvSpPr txBox="1"/>
          <p:nvPr/>
        </p:nvSpPr>
        <p:spPr>
          <a:xfrm>
            <a:off x="1253067" y="781877"/>
            <a:ext cx="5452534" cy="369332"/>
          </a:xfrm>
          <a:prstGeom prst="rect">
            <a:avLst/>
          </a:prstGeom>
          <a:noFill/>
        </p:spPr>
        <p:txBody>
          <a:bodyPr wrap="square" rtlCol="0">
            <a:spAutoFit/>
          </a:bodyPr>
          <a:lstStyle/>
          <a:p>
            <a:r>
              <a:rPr lang="en-US" dirty="0"/>
              <a:t>Standard IEEE 13 Bus Data used for calculation :-</a:t>
            </a:r>
            <a:endParaRPr lang="en-IN" dirty="0"/>
          </a:p>
        </p:txBody>
      </p:sp>
    </p:spTree>
    <p:extLst>
      <p:ext uri="{BB962C8B-B14F-4D97-AF65-F5344CB8AC3E}">
        <p14:creationId xmlns:p14="http://schemas.microsoft.com/office/powerpoint/2010/main" val="2779723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6515B85-5C63-4682-B10E-17B64C69E8B9}"/>
              </a:ext>
            </a:extLst>
          </p:cNvPr>
          <p:cNvSpPr txBox="1"/>
          <p:nvPr/>
        </p:nvSpPr>
        <p:spPr>
          <a:xfrm>
            <a:off x="931333" y="992758"/>
            <a:ext cx="6096000" cy="400110"/>
          </a:xfrm>
          <a:prstGeom prst="rect">
            <a:avLst/>
          </a:prstGeom>
          <a:noFill/>
        </p:spPr>
        <p:txBody>
          <a:bodyPr wrap="square">
            <a:spAutoFit/>
          </a:bodyPr>
          <a:lstStyle/>
          <a:p>
            <a:pPr marL="0" indent="0">
              <a:buNone/>
            </a:pPr>
            <a:r>
              <a:rPr lang="en-IN" sz="2000" b="1" dirty="0">
                <a:latin typeface="Segoe UI Variable Display" pitchFamily="2" charset="0"/>
              </a:rPr>
              <a:t>4.SPOT LOAD :</a:t>
            </a:r>
          </a:p>
        </p:txBody>
      </p:sp>
      <p:graphicFrame>
        <p:nvGraphicFramePr>
          <p:cNvPr id="6" name="Table 5">
            <a:extLst>
              <a:ext uri="{FF2B5EF4-FFF2-40B4-BE49-F238E27FC236}">
                <a16:creationId xmlns:a16="http://schemas.microsoft.com/office/drawing/2014/main" id="{4E6B6298-78A5-4BEC-879B-C0E03AF94CDE}"/>
              </a:ext>
            </a:extLst>
          </p:cNvPr>
          <p:cNvGraphicFramePr>
            <a:graphicFrameLocks noGrp="1"/>
          </p:cNvGraphicFramePr>
          <p:nvPr>
            <p:extLst>
              <p:ext uri="{D42A27DB-BD31-4B8C-83A1-F6EECF244321}">
                <p14:modId xmlns:p14="http://schemas.microsoft.com/office/powerpoint/2010/main" val="3029600492"/>
              </p:ext>
            </p:extLst>
          </p:nvPr>
        </p:nvGraphicFramePr>
        <p:xfrm>
          <a:off x="3472823" y="1373617"/>
          <a:ext cx="5950574" cy="3687431"/>
        </p:xfrm>
        <a:graphic>
          <a:graphicData uri="http://schemas.openxmlformats.org/drawingml/2006/table">
            <a:tbl>
              <a:tblPr/>
              <a:tblGrid>
                <a:gridCol w="850082">
                  <a:extLst>
                    <a:ext uri="{9D8B030D-6E8A-4147-A177-3AD203B41FA5}">
                      <a16:colId xmlns:a16="http://schemas.microsoft.com/office/drawing/2014/main" val="3093010825"/>
                    </a:ext>
                  </a:extLst>
                </a:gridCol>
                <a:gridCol w="850082">
                  <a:extLst>
                    <a:ext uri="{9D8B030D-6E8A-4147-A177-3AD203B41FA5}">
                      <a16:colId xmlns:a16="http://schemas.microsoft.com/office/drawing/2014/main" val="1188038208"/>
                    </a:ext>
                  </a:extLst>
                </a:gridCol>
                <a:gridCol w="850082">
                  <a:extLst>
                    <a:ext uri="{9D8B030D-6E8A-4147-A177-3AD203B41FA5}">
                      <a16:colId xmlns:a16="http://schemas.microsoft.com/office/drawing/2014/main" val="2587784807"/>
                    </a:ext>
                  </a:extLst>
                </a:gridCol>
                <a:gridCol w="850082">
                  <a:extLst>
                    <a:ext uri="{9D8B030D-6E8A-4147-A177-3AD203B41FA5}">
                      <a16:colId xmlns:a16="http://schemas.microsoft.com/office/drawing/2014/main" val="2846435700"/>
                    </a:ext>
                  </a:extLst>
                </a:gridCol>
                <a:gridCol w="850082">
                  <a:extLst>
                    <a:ext uri="{9D8B030D-6E8A-4147-A177-3AD203B41FA5}">
                      <a16:colId xmlns:a16="http://schemas.microsoft.com/office/drawing/2014/main" val="2388461356"/>
                    </a:ext>
                  </a:extLst>
                </a:gridCol>
                <a:gridCol w="850082">
                  <a:extLst>
                    <a:ext uri="{9D8B030D-6E8A-4147-A177-3AD203B41FA5}">
                      <a16:colId xmlns:a16="http://schemas.microsoft.com/office/drawing/2014/main" val="2657661698"/>
                    </a:ext>
                  </a:extLst>
                </a:gridCol>
                <a:gridCol w="850082">
                  <a:extLst>
                    <a:ext uri="{9D8B030D-6E8A-4147-A177-3AD203B41FA5}">
                      <a16:colId xmlns:a16="http://schemas.microsoft.com/office/drawing/2014/main" val="4117235031"/>
                    </a:ext>
                  </a:extLst>
                </a:gridCol>
              </a:tblGrid>
              <a:tr h="283495">
                <a:tc>
                  <a:txBody>
                    <a:bodyPr/>
                    <a:lstStyle/>
                    <a:p>
                      <a:pPr algn="ctr"/>
                      <a:r>
                        <a:rPr lang="en-IN" sz="1100" b="1" dirty="0">
                          <a:latin typeface="Segoe UI Variable Display" pitchFamily="2" charset="0"/>
                        </a:rPr>
                        <a:t>LOAD</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b="1" dirty="0">
                          <a:latin typeface="Segoe UI Variable Display" pitchFamily="2" charset="0"/>
                        </a:rPr>
                        <a:t>BUS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b="1" dirty="0">
                          <a:latin typeface="Segoe UI Variable Display" pitchFamily="2" charset="0"/>
                        </a:rPr>
                        <a:t>PHASES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b="1" dirty="0">
                          <a:latin typeface="Segoe UI Variable Display" pitchFamily="2" charset="0"/>
                        </a:rPr>
                        <a:t>CONN</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b="1" dirty="0">
                          <a:latin typeface="Segoe UI Variable Display" pitchFamily="2" charset="0"/>
                        </a:rPr>
                        <a:t>KV</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b="1" dirty="0">
                          <a:latin typeface="Segoe UI Variable Display" pitchFamily="2" charset="0"/>
                        </a:rPr>
                        <a:t>KW</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b="1" dirty="0">
                          <a:latin typeface="Segoe UI Variable Display" pitchFamily="2" charset="0"/>
                        </a:rPr>
                        <a:t>KVAR</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8361666"/>
                  </a:ext>
                </a:extLst>
              </a:tr>
              <a:tr h="283495">
                <a:tc>
                  <a:txBody>
                    <a:bodyPr/>
                    <a:lstStyle/>
                    <a:p>
                      <a:pPr algn="ctr"/>
                      <a:r>
                        <a:rPr lang="en-IN" sz="1100" b="0" dirty="0">
                          <a:latin typeface="Segoe UI Variable Display" pitchFamily="2" charset="0"/>
                        </a:rPr>
                        <a:t>671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latin typeface="Segoe UI Variable Display" pitchFamily="2" charset="0"/>
                        </a:rPr>
                        <a:t>671.1.2.3</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3</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Delta</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4.16</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1155</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latin typeface="Segoe UI Variable Display" pitchFamily="2" charset="0"/>
                        </a:rPr>
                        <a:t>660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72836184"/>
                  </a:ext>
                </a:extLst>
              </a:tr>
              <a:tr h="283495">
                <a:tc>
                  <a:txBody>
                    <a:bodyPr/>
                    <a:lstStyle/>
                    <a:p>
                      <a:pPr algn="ctr"/>
                      <a:r>
                        <a:rPr lang="en-IN" sz="1100" b="0">
                          <a:latin typeface="Segoe UI Variable Display" pitchFamily="2" charset="0"/>
                        </a:rPr>
                        <a:t>634a</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latin typeface="Segoe UI Variable Display" pitchFamily="2" charset="0"/>
                        </a:rPr>
                        <a:t>634.1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Wye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0.277</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160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110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84156200"/>
                  </a:ext>
                </a:extLst>
              </a:tr>
              <a:tr h="283495">
                <a:tc>
                  <a:txBody>
                    <a:bodyPr/>
                    <a:lstStyle/>
                    <a:p>
                      <a:pPr algn="ctr"/>
                      <a:r>
                        <a:rPr lang="en-IN" sz="1100" b="0" dirty="0">
                          <a:latin typeface="Segoe UI Variable Display" pitchFamily="2" charset="0"/>
                        </a:rPr>
                        <a:t>634b</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634.2</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latin typeface="Segoe UI Variable Display" pitchFamily="2" charset="0"/>
                        </a:rPr>
                        <a:t>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Wye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0.277</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120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90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4698806"/>
                  </a:ext>
                </a:extLst>
              </a:tr>
              <a:tr h="283495">
                <a:tc>
                  <a:txBody>
                    <a:bodyPr/>
                    <a:lstStyle/>
                    <a:p>
                      <a:pPr algn="ctr"/>
                      <a:r>
                        <a:rPr lang="en-IN" sz="1100" b="0" dirty="0">
                          <a:latin typeface="Segoe UI Variable Display" pitchFamily="2" charset="0"/>
                        </a:rPr>
                        <a:t>634c</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634.3</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latin typeface="Segoe UI Variable Display" pitchFamily="2" charset="0"/>
                        </a:rPr>
                        <a:t>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Wye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0.277</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120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90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7824248"/>
                  </a:ext>
                </a:extLst>
              </a:tr>
              <a:tr h="283495">
                <a:tc>
                  <a:txBody>
                    <a:bodyPr/>
                    <a:lstStyle/>
                    <a:p>
                      <a:pPr algn="ctr"/>
                      <a:r>
                        <a:rPr lang="en-IN" sz="1100" b="0" dirty="0">
                          <a:latin typeface="Segoe UI Variable Display" pitchFamily="2" charset="0"/>
                        </a:rPr>
                        <a:t>645</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645.2</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Wye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latin typeface="Segoe UI Variable Display" pitchFamily="2" charset="0"/>
                        </a:rPr>
                        <a:t>2.4</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latin typeface="Segoe UI Variable Display" pitchFamily="2" charset="0"/>
                        </a:rPr>
                        <a:t>170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125</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1423241"/>
                  </a:ext>
                </a:extLst>
              </a:tr>
              <a:tr h="283495">
                <a:tc>
                  <a:txBody>
                    <a:bodyPr/>
                    <a:lstStyle/>
                    <a:p>
                      <a:pPr algn="ctr"/>
                      <a:r>
                        <a:rPr lang="en-IN" sz="1100" b="0" dirty="0">
                          <a:latin typeface="Segoe UI Variable Display" pitchFamily="2" charset="0"/>
                        </a:rPr>
                        <a:t>646</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646.2.3</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latin typeface="Segoe UI Variable Display" pitchFamily="2" charset="0"/>
                        </a:rPr>
                        <a:t>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Delta</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4.16</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latin typeface="Segoe UI Variable Display" pitchFamily="2" charset="0"/>
                        </a:rPr>
                        <a:t>230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132</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39328143"/>
                  </a:ext>
                </a:extLst>
              </a:tr>
              <a:tr h="283495">
                <a:tc>
                  <a:txBody>
                    <a:bodyPr/>
                    <a:lstStyle/>
                    <a:p>
                      <a:pPr algn="ctr"/>
                      <a:r>
                        <a:rPr lang="en-IN" sz="1100" b="0" dirty="0">
                          <a:latin typeface="Segoe UI Variable Display" pitchFamily="2" charset="0"/>
                        </a:rPr>
                        <a:t>692</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692.3.1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latin typeface="Segoe UI Variable Display" pitchFamily="2" charset="0"/>
                        </a:rPr>
                        <a:t>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Delta</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4.16</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170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151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82546916"/>
                  </a:ext>
                </a:extLst>
              </a:tr>
              <a:tr h="283495">
                <a:tc>
                  <a:txBody>
                    <a:bodyPr/>
                    <a:lstStyle/>
                    <a:p>
                      <a:pPr algn="ctr"/>
                      <a:r>
                        <a:rPr lang="en-IN" sz="1100" b="0" dirty="0">
                          <a:latin typeface="Segoe UI Variable Display" pitchFamily="2" charset="0"/>
                        </a:rPr>
                        <a:t>675a</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675.1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Wye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2.4</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latin typeface="Segoe UI Variable Display" pitchFamily="2" charset="0"/>
                        </a:rPr>
                        <a:t>485</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190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2680760"/>
                  </a:ext>
                </a:extLst>
              </a:tr>
              <a:tr h="283495">
                <a:tc>
                  <a:txBody>
                    <a:bodyPr/>
                    <a:lstStyle/>
                    <a:p>
                      <a:pPr algn="ctr"/>
                      <a:r>
                        <a:rPr lang="en-IN" sz="1100" b="0" dirty="0">
                          <a:latin typeface="Segoe UI Variable Display" pitchFamily="2" charset="0"/>
                        </a:rPr>
                        <a:t>675b</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675.2</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Wye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2.4</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68</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latin typeface="Segoe UI Variable Display" pitchFamily="2" charset="0"/>
                        </a:rPr>
                        <a:t>60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9185364"/>
                  </a:ext>
                </a:extLst>
              </a:tr>
              <a:tr h="283495">
                <a:tc>
                  <a:txBody>
                    <a:bodyPr/>
                    <a:lstStyle/>
                    <a:p>
                      <a:pPr algn="ctr"/>
                      <a:r>
                        <a:rPr lang="en-IN" sz="1100" b="0" dirty="0">
                          <a:latin typeface="Segoe UI Variable Display" pitchFamily="2" charset="0"/>
                        </a:rPr>
                        <a:t>675c</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675.3</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Wye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2.4</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290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latin typeface="Segoe UI Variable Display" pitchFamily="2" charset="0"/>
                        </a:rPr>
                        <a:t>212</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3112713"/>
                  </a:ext>
                </a:extLst>
              </a:tr>
              <a:tr h="283495">
                <a:tc>
                  <a:txBody>
                    <a:bodyPr/>
                    <a:lstStyle/>
                    <a:p>
                      <a:pPr algn="ctr"/>
                      <a:r>
                        <a:rPr lang="en-IN" sz="1100" b="0" dirty="0">
                          <a:latin typeface="Segoe UI Variable Display" pitchFamily="2" charset="0"/>
                        </a:rPr>
                        <a:t>611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611.3</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Wye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2.4</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170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80</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7284645"/>
                  </a:ext>
                </a:extLst>
              </a:tr>
              <a:tr h="285491">
                <a:tc>
                  <a:txBody>
                    <a:bodyPr/>
                    <a:lstStyle/>
                    <a:p>
                      <a:pPr algn="ctr"/>
                      <a:r>
                        <a:rPr lang="en-IN" sz="1100" b="0" dirty="0">
                          <a:latin typeface="Segoe UI Variable Display" pitchFamily="2" charset="0"/>
                        </a:rPr>
                        <a:t>652</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latin typeface="Segoe UI Variable Display" pitchFamily="2" charset="0"/>
                        </a:rPr>
                        <a:t>652.1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Wye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a:latin typeface="Segoe UI Variable Display" pitchFamily="2" charset="0"/>
                        </a:rPr>
                        <a:t>2.4</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latin typeface="Segoe UI Variable Display" pitchFamily="2" charset="0"/>
                        </a:rPr>
                        <a:t>128</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latin typeface="Segoe UI Variable Display" pitchFamily="2" charset="0"/>
                        </a:rPr>
                        <a:t>86</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96008966"/>
                  </a:ext>
                </a:extLst>
              </a:tr>
            </a:tbl>
          </a:graphicData>
        </a:graphic>
      </p:graphicFrame>
      <p:sp>
        <p:nvSpPr>
          <p:cNvPr id="8" name="TextBox 7">
            <a:extLst>
              <a:ext uri="{FF2B5EF4-FFF2-40B4-BE49-F238E27FC236}">
                <a16:creationId xmlns:a16="http://schemas.microsoft.com/office/drawing/2014/main" id="{6A2AFAAC-1DCC-4B60-9D7C-B6BAC35399BA}"/>
              </a:ext>
            </a:extLst>
          </p:cNvPr>
          <p:cNvSpPr txBox="1"/>
          <p:nvPr/>
        </p:nvSpPr>
        <p:spPr>
          <a:xfrm>
            <a:off x="931333" y="5072576"/>
            <a:ext cx="2235200" cy="369332"/>
          </a:xfrm>
          <a:prstGeom prst="rect">
            <a:avLst/>
          </a:prstGeom>
          <a:noFill/>
        </p:spPr>
        <p:txBody>
          <a:bodyPr wrap="square">
            <a:spAutoFit/>
          </a:bodyPr>
          <a:lstStyle/>
          <a:p>
            <a:pPr marL="0" indent="0">
              <a:buNone/>
            </a:pPr>
            <a:r>
              <a:rPr lang="en-IN" b="1" dirty="0">
                <a:latin typeface="Segoe UI Variable Display" pitchFamily="2" charset="0"/>
              </a:rPr>
              <a:t> 5.SWITCH DATA</a:t>
            </a:r>
          </a:p>
        </p:txBody>
      </p:sp>
      <p:graphicFrame>
        <p:nvGraphicFramePr>
          <p:cNvPr id="9" name="Table 8">
            <a:extLst>
              <a:ext uri="{FF2B5EF4-FFF2-40B4-BE49-F238E27FC236}">
                <a16:creationId xmlns:a16="http://schemas.microsoft.com/office/drawing/2014/main" id="{38F898EB-F251-4D45-809D-3268581BCEDF}"/>
              </a:ext>
            </a:extLst>
          </p:cNvPr>
          <p:cNvGraphicFramePr>
            <a:graphicFrameLocks noGrp="1"/>
          </p:cNvGraphicFramePr>
          <p:nvPr>
            <p:extLst>
              <p:ext uri="{D42A27DB-BD31-4B8C-83A1-F6EECF244321}">
                <p14:modId xmlns:p14="http://schemas.microsoft.com/office/powerpoint/2010/main" val="1328679552"/>
              </p:ext>
            </p:extLst>
          </p:nvPr>
        </p:nvGraphicFramePr>
        <p:xfrm>
          <a:off x="3295023" y="5739358"/>
          <a:ext cx="6544734" cy="518160"/>
        </p:xfrm>
        <a:graphic>
          <a:graphicData uri="http://schemas.openxmlformats.org/drawingml/2006/table">
            <a:tbl>
              <a:tblPr/>
              <a:tblGrid>
                <a:gridCol w="934962">
                  <a:extLst>
                    <a:ext uri="{9D8B030D-6E8A-4147-A177-3AD203B41FA5}">
                      <a16:colId xmlns:a16="http://schemas.microsoft.com/office/drawing/2014/main" val="2147345742"/>
                    </a:ext>
                  </a:extLst>
                </a:gridCol>
                <a:gridCol w="934962">
                  <a:extLst>
                    <a:ext uri="{9D8B030D-6E8A-4147-A177-3AD203B41FA5}">
                      <a16:colId xmlns:a16="http://schemas.microsoft.com/office/drawing/2014/main" val="1928114068"/>
                    </a:ext>
                  </a:extLst>
                </a:gridCol>
                <a:gridCol w="934962">
                  <a:extLst>
                    <a:ext uri="{9D8B030D-6E8A-4147-A177-3AD203B41FA5}">
                      <a16:colId xmlns:a16="http://schemas.microsoft.com/office/drawing/2014/main" val="235487939"/>
                    </a:ext>
                  </a:extLst>
                </a:gridCol>
                <a:gridCol w="934962">
                  <a:extLst>
                    <a:ext uri="{9D8B030D-6E8A-4147-A177-3AD203B41FA5}">
                      <a16:colId xmlns:a16="http://schemas.microsoft.com/office/drawing/2014/main" val="2463926755"/>
                    </a:ext>
                  </a:extLst>
                </a:gridCol>
                <a:gridCol w="934962">
                  <a:extLst>
                    <a:ext uri="{9D8B030D-6E8A-4147-A177-3AD203B41FA5}">
                      <a16:colId xmlns:a16="http://schemas.microsoft.com/office/drawing/2014/main" val="26642202"/>
                    </a:ext>
                  </a:extLst>
                </a:gridCol>
                <a:gridCol w="934962">
                  <a:extLst>
                    <a:ext uri="{9D8B030D-6E8A-4147-A177-3AD203B41FA5}">
                      <a16:colId xmlns:a16="http://schemas.microsoft.com/office/drawing/2014/main" val="3607474793"/>
                    </a:ext>
                  </a:extLst>
                </a:gridCol>
                <a:gridCol w="934962">
                  <a:extLst>
                    <a:ext uri="{9D8B030D-6E8A-4147-A177-3AD203B41FA5}">
                      <a16:colId xmlns:a16="http://schemas.microsoft.com/office/drawing/2014/main" val="2082984774"/>
                    </a:ext>
                  </a:extLst>
                </a:gridCol>
              </a:tblGrid>
              <a:tr h="229121">
                <a:tc>
                  <a:txBody>
                    <a:bodyPr/>
                    <a:lstStyle/>
                    <a:p>
                      <a:pPr algn="ctr"/>
                      <a:r>
                        <a:rPr lang="en-IN" sz="1100" b="1" dirty="0">
                          <a:latin typeface="Segoe UI Variable Display" pitchFamily="2" charset="0"/>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FROM BUS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TO BUS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PHASES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b="1" dirty="0">
                          <a:latin typeface="Segoe UI Variable Display" pitchFamily="2" charset="0"/>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9457102"/>
                  </a:ext>
                </a:extLst>
              </a:tr>
              <a:tr h="229121">
                <a:tc>
                  <a:txBody>
                    <a:bodyPr/>
                    <a:lstStyle/>
                    <a:p>
                      <a:pPr algn="ctr"/>
                      <a:r>
                        <a:rPr lang="en-IN" sz="1100">
                          <a:latin typeface="Segoe UI Variable Display" pitchFamily="2" charset="0"/>
                        </a:rPr>
                        <a:t>671692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671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a:latin typeface="Segoe UI Variable Display" pitchFamily="2" charset="0"/>
                        </a:rPr>
                        <a:t>Switch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1e-4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Segoe UI Variable Display" pitchFamily="2"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3697446"/>
                  </a:ext>
                </a:extLst>
              </a:tr>
            </a:tbl>
          </a:graphicData>
        </a:graphic>
      </p:graphicFrame>
      <p:pic>
        <p:nvPicPr>
          <p:cNvPr id="7" name="Picture 4" descr="SASTRA University (@SASTRA_Univ ...">
            <a:extLst>
              <a:ext uri="{FF2B5EF4-FFF2-40B4-BE49-F238E27FC236}">
                <a16:creationId xmlns:a16="http://schemas.microsoft.com/office/drawing/2014/main" id="{39755AA6-6338-447A-ADF2-3646AED90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5385" y="216429"/>
            <a:ext cx="876830" cy="876830"/>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a:extLst>
              <a:ext uri="{FF2B5EF4-FFF2-40B4-BE49-F238E27FC236}">
                <a16:creationId xmlns:a16="http://schemas.microsoft.com/office/drawing/2014/main" id="{CF7BBB95-4CEA-4E2B-A303-465FB3102BBB}"/>
              </a:ext>
            </a:extLst>
          </p:cNvPr>
          <p:cNvSpPr>
            <a:spLocks noGrp="1"/>
          </p:cNvSpPr>
          <p:nvPr>
            <p:ph type="title"/>
          </p:nvPr>
        </p:nvSpPr>
        <p:spPr>
          <a:xfrm>
            <a:off x="399785" y="-32544"/>
            <a:ext cx="10515600" cy="933714"/>
          </a:xfrm>
        </p:spPr>
        <p:txBody>
          <a:bodyPr>
            <a:normAutofit/>
          </a:bodyPr>
          <a:lstStyle/>
          <a:p>
            <a:r>
              <a:rPr lang="en-IN" sz="3600" b="1" dirty="0">
                <a:latin typeface="Segoe UI Variable Display" pitchFamily="2" charset="0"/>
              </a:rPr>
              <a:t>BUS DATA</a:t>
            </a:r>
          </a:p>
        </p:txBody>
      </p:sp>
    </p:spTree>
    <p:extLst>
      <p:ext uri="{BB962C8B-B14F-4D97-AF65-F5344CB8AC3E}">
        <p14:creationId xmlns:p14="http://schemas.microsoft.com/office/powerpoint/2010/main" val="769142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78CD30C-CE42-4350-A6CF-611BD8ADC467}"/>
              </a:ext>
            </a:extLst>
          </p:cNvPr>
          <p:cNvGraphicFramePr>
            <a:graphicFrameLocks noGrp="1"/>
          </p:cNvGraphicFramePr>
          <p:nvPr>
            <p:ph idx="1"/>
            <p:extLst>
              <p:ext uri="{D42A27DB-BD31-4B8C-83A1-F6EECF244321}">
                <p14:modId xmlns:p14="http://schemas.microsoft.com/office/powerpoint/2010/main" val="1743782415"/>
              </p:ext>
            </p:extLst>
          </p:nvPr>
        </p:nvGraphicFramePr>
        <p:xfrm>
          <a:off x="931334" y="1695111"/>
          <a:ext cx="5545668" cy="1645920"/>
        </p:xfrm>
        <a:graphic>
          <a:graphicData uri="http://schemas.openxmlformats.org/drawingml/2006/table">
            <a:tbl>
              <a:tblPr/>
              <a:tblGrid>
                <a:gridCol w="2772834">
                  <a:extLst>
                    <a:ext uri="{9D8B030D-6E8A-4147-A177-3AD203B41FA5}">
                      <a16:colId xmlns:a16="http://schemas.microsoft.com/office/drawing/2014/main" val="1985562288"/>
                    </a:ext>
                  </a:extLst>
                </a:gridCol>
                <a:gridCol w="2772834">
                  <a:extLst>
                    <a:ext uri="{9D8B030D-6E8A-4147-A177-3AD203B41FA5}">
                      <a16:colId xmlns:a16="http://schemas.microsoft.com/office/drawing/2014/main" val="2322858288"/>
                    </a:ext>
                  </a:extLst>
                </a:gridCol>
              </a:tblGrid>
              <a:tr h="255420">
                <a:tc>
                  <a:txBody>
                    <a:bodyPr/>
                    <a:lstStyle/>
                    <a:p>
                      <a:pPr algn="ctr"/>
                      <a:r>
                        <a:rPr lang="en-IN" sz="1200" b="1" i="0" dirty="0">
                          <a:latin typeface="Segoe UI Variable Display" pitchFamily="2" charset="0"/>
                        </a:rPr>
                        <a:t>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i="0" dirty="0">
                          <a:latin typeface="Segoe UI Variable Display" pitchFamily="2" charset="0"/>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8446563"/>
                  </a:ext>
                </a:extLst>
              </a:tr>
              <a:tr h="255420">
                <a:tc>
                  <a:txBody>
                    <a:bodyPr/>
                    <a:lstStyle/>
                    <a:p>
                      <a:pPr algn="ctr"/>
                      <a:r>
                        <a:rPr lang="en-IN" sz="1200" b="0" dirty="0">
                          <a:latin typeface="Segoe UI Variable Display" pitchFamily="2" charset="0"/>
                        </a:rPr>
                        <a:t>Base Voltage (KV)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latin typeface="Segoe UI Variable Display" pitchFamily="2" charset="0"/>
                        </a:rPr>
                        <a:t>115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0469473"/>
                  </a:ext>
                </a:extLst>
              </a:tr>
              <a:tr h="255420">
                <a:tc>
                  <a:txBody>
                    <a:bodyPr/>
                    <a:lstStyle/>
                    <a:p>
                      <a:pPr algn="ctr"/>
                      <a:r>
                        <a:rPr lang="en-IN" sz="1200" b="0">
                          <a:latin typeface="Segoe UI Variable Display" pitchFamily="2" charset="0"/>
                        </a:rPr>
                        <a:t>PU Voltage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latin typeface="Segoe UI Variable Display" pitchFamily="2" charset="0"/>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8188076"/>
                  </a:ext>
                </a:extLst>
              </a:tr>
              <a:tr h="255420">
                <a:tc>
                  <a:txBody>
                    <a:bodyPr/>
                    <a:lstStyle/>
                    <a:p>
                      <a:pPr algn="ctr"/>
                      <a:r>
                        <a:rPr lang="en-IN" sz="1200" b="0" dirty="0">
                          <a:latin typeface="Segoe UI Variable Display" pitchFamily="2" charset="0"/>
                        </a:rPr>
                        <a:t>Phase Angle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latin typeface="Segoe UI Variable Display" pitchFamily="2"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342569"/>
                  </a:ext>
                </a:extLst>
              </a:tr>
              <a:tr h="255420">
                <a:tc>
                  <a:txBody>
                    <a:bodyPr/>
                    <a:lstStyle/>
                    <a:p>
                      <a:pPr algn="ctr"/>
                      <a:r>
                        <a:rPr lang="en-IN" sz="1200" b="1" dirty="0">
                          <a:latin typeface="Segoe UI Variable Display" pitchFamily="2" charset="0"/>
                        </a:rPr>
                        <a:t>MVAsc3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Segoe UI Variable Display" pitchFamily="2" charset="0"/>
                        </a:rPr>
                        <a:t>20000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7627799"/>
                  </a:ext>
                </a:extLst>
              </a:tr>
              <a:tr h="255420">
                <a:tc>
                  <a:txBody>
                    <a:bodyPr/>
                    <a:lstStyle/>
                    <a:p>
                      <a:pPr algn="ctr"/>
                      <a:r>
                        <a:rPr lang="en-IN" sz="1200" b="1" dirty="0">
                          <a:latin typeface="Segoe UI Variable Display" pitchFamily="2" charset="0"/>
                        </a:rPr>
                        <a:t>MVAsc1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Segoe UI Variable Display" pitchFamily="2" charset="0"/>
                        </a:rPr>
                        <a:t>21000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7849712"/>
                  </a:ext>
                </a:extLst>
              </a:tr>
            </a:tbl>
          </a:graphicData>
        </a:graphic>
      </p:graphicFrame>
      <p:sp>
        <p:nvSpPr>
          <p:cNvPr id="12" name="TextBox 11">
            <a:extLst>
              <a:ext uri="{FF2B5EF4-FFF2-40B4-BE49-F238E27FC236}">
                <a16:creationId xmlns:a16="http://schemas.microsoft.com/office/drawing/2014/main" id="{0394B441-5AA0-453F-8914-24BB559183F7}"/>
              </a:ext>
            </a:extLst>
          </p:cNvPr>
          <p:cNvSpPr txBox="1"/>
          <p:nvPr/>
        </p:nvSpPr>
        <p:spPr>
          <a:xfrm>
            <a:off x="931334" y="1150143"/>
            <a:ext cx="6096000" cy="400110"/>
          </a:xfrm>
          <a:prstGeom prst="rect">
            <a:avLst/>
          </a:prstGeom>
          <a:noFill/>
        </p:spPr>
        <p:txBody>
          <a:bodyPr wrap="square">
            <a:spAutoFit/>
          </a:bodyPr>
          <a:lstStyle/>
          <a:p>
            <a:r>
              <a:rPr lang="en-IN" sz="2000" b="1" dirty="0">
                <a:latin typeface="Segoe UI Variable Display" pitchFamily="2" charset="0"/>
              </a:rPr>
              <a:t>6.SOURCE DATA</a:t>
            </a:r>
          </a:p>
        </p:txBody>
      </p:sp>
      <p:pic>
        <p:nvPicPr>
          <p:cNvPr id="18" name="Picture 4" descr="SASTRA University (@SASTRA_Univ ...">
            <a:extLst>
              <a:ext uri="{FF2B5EF4-FFF2-40B4-BE49-F238E27FC236}">
                <a16:creationId xmlns:a16="http://schemas.microsoft.com/office/drawing/2014/main" id="{EFC83434-CE37-4C4D-98C0-F94659F038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5385" y="216429"/>
            <a:ext cx="876830" cy="87683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BFA103C-DC4E-4B9C-B179-E8BE372D54C1}"/>
              </a:ext>
            </a:extLst>
          </p:cNvPr>
          <p:cNvSpPr txBox="1"/>
          <p:nvPr/>
        </p:nvSpPr>
        <p:spPr>
          <a:xfrm>
            <a:off x="1371599" y="3485890"/>
            <a:ext cx="9982201" cy="738664"/>
          </a:xfrm>
          <a:prstGeom prst="rect">
            <a:avLst/>
          </a:prstGeom>
          <a:noFill/>
        </p:spPr>
        <p:txBody>
          <a:bodyPr wrap="square" rtlCol="0">
            <a:spAutoFit/>
          </a:bodyPr>
          <a:lstStyle/>
          <a:p>
            <a:r>
              <a:rPr lang="en-US" sz="1400" dirty="0">
                <a:latin typeface="Segoe UI Variable Display" pitchFamily="2" charset="0"/>
              </a:rPr>
              <a:t>                       Here the value of the short circuit (MVASc) is set very high -&gt; Impedance will be lowered resulting in lower voltage drop for large current intake by the heavy loads</a:t>
            </a:r>
            <a:endParaRPr lang="en-IN" sz="1400" dirty="0">
              <a:latin typeface="Segoe UI Variable Display" pitchFamily="2" charset="0"/>
            </a:endParaRPr>
          </a:p>
          <a:p>
            <a:r>
              <a:rPr lang="en-US" sz="1400" b="1" dirty="0">
                <a:latin typeface="Segoe UI Variable Display" pitchFamily="2" charset="0"/>
              </a:rPr>
              <a:t>                              For ex:,- 1155 KW and 660 KVAR connected to the bus 671. </a:t>
            </a:r>
            <a:endParaRPr lang="en-IN" sz="1400" b="1" dirty="0">
              <a:latin typeface="Segoe UI Variable Display" pitchFamily="2" charset="0"/>
            </a:endParaRPr>
          </a:p>
        </p:txBody>
      </p:sp>
      <p:sp>
        <p:nvSpPr>
          <p:cNvPr id="9" name="TextBox 8">
            <a:extLst>
              <a:ext uri="{FF2B5EF4-FFF2-40B4-BE49-F238E27FC236}">
                <a16:creationId xmlns:a16="http://schemas.microsoft.com/office/drawing/2014/main" id="{3034E225-BF2C-43EE-A81E-03EF4ECD9577}"/>
              </a:ext>
            </a:extLst>
          </p:cNvPr>
          <p:cNvSpPr txBox="1"/>
          <p:nvPr/>
        </p:nvSpPr>
        <p:spPr>
          <a:xfrm>
            <a:off x="6985000" y="2701785"/>
            <a:ext cx="4368800" cy="338554"/>
          </a:xfrm>
          <a:prstGeom prst="rect">
            <a:avLst/>
          </a:prstGeom>
          <a:noFill/>
        </p:spPr>
        <p:txBody>
          <a:bodyPr wrap="square" rtlCol="0">
            <a:spAutoFit/>
          </a:bodyPr>
          <a:lstStyle/>
          <a:p>
            <a:r>
              <a:rPr lang="en-US" sz="1600" dirty="0">
                <a:latin typeface="Segoe UI Variable Display" pitchFamily="2" charset="0"/>
              </a:rPr>
              <a:t>The Short circuit MVASc is calculated using, </a:t>
            </a:r>
            <a:endParaRPr lang="en-IN" sz="1600" dirty="0">
              <a:latin typeface="Segoe UI Variable Display" pitchFamily="2" charset="0"/>
            </a:endParaRPr>
          </a:p>
        </p:txBody>
      </p:sp>
      <p:sp>
        <p:nvSpPr>
          <p:cNvPr id="11" name="Rectangle 1">
            <a:extLst>
              <a:ext uri="{FF2B5EF4-FFF2-40B4-BE49-F238E27FC236}">
                <a16:creationId xmlns:a16="http://schemas.microsoft.com/office/drawing/2014/main" id="{2A73979F-9A88-4841-B12E-2BDD3806D26A}"/>
              </a:ext>
            </a:extLst>
          </p:cNvPr>
          <p:cNvSpPr>
            <a:spLocks noChangeArrowheads="1"/>
          </p:cNvSpPr>
          <p:nvPr/>
        </p:nvSpPr>
        <p:spPr bwMode="auto">
          <a:xfrm>
            <a:off x="177800" y="484795"/>
            <a:ext cx="1107996"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Segoe UI Variable Display" pitchFamily="2" charset="0"/>
              </a:rPr>
              <a:t>	</a:t>
            </a:r>
          </a:p>
        </p:txBody>
      </p:sp>
      <p:sp>
        <p:nvSpPr>
          <p:cNvPr id="19" name="TextBox 18">
            <a:extLst>
              <a:ext uri="{FF2B5EF4-FFF2-40B4-BE49-F238E27FC236}">
                <a16:creationId xmlns:a16="http://schemas.microsoft.com/office/drawing/2014/main" id="{61978942-57BA-4524-A12C-87D86FECE9F5}"/>
              </a:ext>
            </a:extLst>
          </p:cNvPr>
          <p:cNvSpPr txBox="1"/>
          <p:nvPr/>
        </p:nvSpPr>
        <p:spPr>
          <a:xfrm>
            <a:off x="7645400" y="3040339"/>
            <a:ext cx="3505200" cy="338554"/>
          </a:xfrm>
          <a:prstGeom prst="rect">
            <a:avLst/>
          </a:prstGeom>
          <a:noFill/>
          <a:ln w="17780">
            <a:solidFill>
              <a:schemeClr val="tx1"/>
            </a:solidFill>
          </a:ln>
        </p:spPr>
        <p:txBody>
          <a:bodyPr wrap="square">
            <a:spAutoFit/>
          </a:bodyPr>
          <a:lstStyle/>
          <a:p>
            <a:r>
              <a:rPr lang="en-IN" sz="1600" b="1" dirty="0">
                <a:latin typeface="Segoe UI Variable Display" pitchFamily="2" charset="0"/>
              </a:rPr>
              <a:t>Z_ohms = (kV_base)^2 / MVA_sc</a:t>
            </a:r>
          </a:p>
        </p:txBody>
      </p:sp>
      <p:sp>
        <p:nvSpPr>
          <p:cNvPr id="13" name="Title 1">
            <a:extLst>
              <a:ext uri="{FF2B5EF4-FFF2-40B4-BE49-F238E27FC236}">
                <a16:creationId xmlns:a16="http://schemas.microsoft.com/office/drawing/2014/main" id="{5684745E-BFE0-43DF-BF75-D723FA08E781}"/>
              </a:ext>
            </a:extLst>
          </p:cNvPr>
          <p:cNvSpPr>
            <a:spLocks noGrp="1"/>
          </p:cNvSpPr>
          <p:nvPr>
            <p:ph type="title"/>
          </p:nvPr>
        </p:nvSpPr>
        <p:spPr>
          <a:xfrm>
            <a:off x="399785" y="-32544"/>
            <a:ext cx="10515600" cy="933714"/>
          </a:xfrm>
        </p:spPr>
        <p:txBody>
          <a:bodyPr>
            <a:normAutofit/>
          </a:bodyPr>
          <a:lstStyle/>
          <a:p>
            <a:r>
              <a:rPr lang="en-IN" sz="3600" b="1" dirty="0">
                <a:latin typeface="Segoe UI Variable Display" pitchFamily="2" charset="0"/>
              </a:rPr>
              <a:t>BUS DATA</a:t>
            </a:r>
          </a:p>
        </p:txBody>
      </p:sp>
    </p:spTree>
    <p:extLst>
      <p:ext uri="{BB962C8B-B14F-4D97-AF65-F5344CB8AC3E}">
        <p14:creationId xmlns:p14="http://schemas.microsoft.com/office/powerpoint/2010/main" val="1932906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AB716F-C989-4FF3-BD6C-7C602AF215D5}"/>
              </a:ext>
            </a:extLst>
          </p:cNvPr>
          <p:cNvSpPr txBox="1"/>
          <p:nvPr/>
        </p:nvSpPr>
        <p:spPr>
          <a:xfrm>
            <a:off x="722345" y="719289"/>
            <a:ext cx="4054607" cy="400110"/>
          </a:xfrm>
          <a:prstGeom prst="rect">
            <a:avLst/>
          </a:prstGeom>
          <a:noFill/>
        </p:spPr>
        <p:txBody>
          <a:bodyPr wrap="square">
            <a:spAutoFit/>
          </a:bodyPr>
          <a:lstStyle/>
          <a:p>
            <a:r>
              <a:rPr lang="en-US" sz="2000" b="1" dirty="0">
                <a:latin typeface="Segoe UI Variable Display" pitchFamily="2" charset="0"/>
              </a:rPr>
              <a:t> 8.LINE CONFIGURATION DATA:</a:t>
            </a:r>
            <a:endParaRPr lang="en-IN" sz="2000" b="1" dirty="0">
              <a:latin typeface="Segoe UI Variable Display" pitchFamily="2" charset="0"/>
            </a:endParaRPr>
          </a:p>
        </p:txBody>
      </p:sp>
      <p:pic>
        <p:nvPicPr>
          <p:cNvPr id="12" name="Picture 4" descr="SASTRA University (@SASTRA_Univ ...">
            <a:extLst>
              <a:ext uri="{FF2B5EF4-FFF2-40B4-BE49-F238E27FC236}">
                <a16:creationId xmlns:a16="http://schemas.microsoft.com/office/drawing/2014/main" id="{EA38F093-14E4-4295-8528-5DC3A5EC5A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5385" y="199496"/>
            <a:ext cx="876830" cy="876830"/>
          </a:xfrm>
          <a:prstGeom prst="rect">
            <a:avLst/>
          </a:prstGeom>
          <a:noFill/>
          <a:extLst>
            <a:ext uri="{909E8E84-426E-40DD-AFC4-6F175D3DCCD1}">
              <a14:hiddenFill xmlns:a14="http://schemas.microsoft.com/office/drawing/2010/main">
                <a:solidFill>
                  <a:srgbClr val="FFFFFF"/>
                </a:solidFill>
              </a14:hiddenFill>
            </a:ext>
          </a:extLst>
        </p:spPr>
      </p:pic>
      <p:sp>
        <p:nvSpPr>
          <p:cNvPr id="57" name="Title 1">
            <a:extLst>
              <a:ext uri="{FF2B5EF4-FFF2-40B4-BE49-F238E27FC236}">
                <a16:creationId xmlns:a16="http://schemas.microsoft.com/office/drawing/2014/main" id="{CE09E082-BC5F-4E8C-AAA4-934462725C4C}"/>
              </a:ext>
            </a:extLst>
          </p:cNvPr>
          <p:cNvSpPr>
            <a:spLocks noGrp="1"/>
          </p:cNvSpPr>
          <p:nvPr>
            <p:ph type="title"/>
          </p:nvPr>
        </p:nvSpPr>
        <p:spPr>
          <a:xfrm>
            <a:off x="399785" y="-32544"/>
            <a:ext cx="10515600" cy="933714"/>
          </a:xfrm>
        </p:spPr>
        <p:txBody>
          <a:bodyPr>
            <a:normAutofit/>
          </a:bodyPr>
          <a:lstStyle/>
          <a:p>
            <a:r>
              <a:rPr lang="en-IN" sz="3600" b="1" dirty="0">
                <a:latin typeface="Segoe UI Variable Display" pitchFamily="2" charset="0"/>
              </a:rPr>
              <a:t>BUS DATA</a:t>
            </a:r>
          </a:p>
        </p:txBody>
      </p:sp>
      <p:pic>
        <p:nvPicPr>
          <p:cNvPr id="10" name="Picture 9">
            <a:extLst>
              <a:ext uri="{FF2B5EF4-FFF2-40B4-BE49-F238E27FC236}">
                <a16:creationId xmlns:a16="http://schemas.microsoft.com/office/drawing/2014/main" id="{C33566EB-40FB-423E-9974-A6B68CEDDFFA}"/>
              </a:ext>
            </a:extLst>
          </p:cNvPr>
          <p:cNvPicPr>
            <a:picLocks noChangeAspect="1"/>
          </p:cNvPicPr>
          <p:nvPr/>
        </p:nvPicPr>
        <p:blipFill>
          <a:blip r:embed="rId3"/>
          <a:stretch>
            <a:fillRect/>
          </a:stretch>
        </p:blipFill>
        <p:spPr>
          <a:xfrm>
            <a:off x="520741" y="1498699"/>
            <a:ext cx="5482126" cy="4825763"/>
          </a:xfrm>
          <a:prstGeom prst="rect">
            <a:avLst/>
          </a:prstGeom>
        </p:spPr>
      </p:pic>
      <p:pic>
        <p:nvPicPr>
          <p:cNvPr id="14" name="Picture 13">
            <a:extLst>
              <a:ext uri="{FF2B5EF4-FFF2-40B4-BE49-F238E27FC236}">
                <a16:creationId xmlns:a16="http://schemas.microsoft.com/office/drawing/2014/main" id="{211B2851-7139-4CEA-A7A1-7256CE54828A}"/>
              </a:ext>
            </a:extLst>
          </p:cNvPr>
          <p:cNvPicPr>
            <a:picLocks noChangeAspect="1"/>
          </p:cNvPicPr>
          <p:nvPr/>
        </p:nvPicPr>
        <p:blipFill>
          <a:blip r:embed="rId4"/>
          <a:stretch>
            <a:fillRect/>
          </a:stretch>
        </p:blipFill>
        <p:spPr>
          <a:xfrm>
            <a:off x="6189135" y="2168721"/>
            <a:ext cx="5826333" cy="3825679"/>
          </a:xfrm>
          <a:prstGeom prst="rect">
            <a:avLst/>
          </a:prstGeom>
        </p:spPr>
      </p:pic>
      <p:pic>
        <p:nvPicPr>
          <p:cNvPr id="17" name="Picture 16">
            <a:extLst>
              <a:ext uri="{FF2B5EF4-FFF2-40B4-BE49-F238E27FC236}">
                <a16:creationId xmlns:a16="http://schemas.microsoft.com/office/drawing/2014/main" id="{2D8C0418-C2AB-464A-A830-0EBEEDDED59C}"/>
              </a:ext>
            </a:extLst>
          </p:cNvPr>
          <p:cNvPicPr>
            <a:picLocks noChangeAspect="1"/>
          </p:cNvPicPr>
          <p:nvPr/>
        </p:nvPicPr>
        <p:blipFill>
          <a:blip r:embed="rId5"/>
          <a:stretch>
            <a:fillRect/>
          </a:stretch>
        </p:blipFill>
        <p:spPr>
          <a:xfrm>
            <a:off x="6007734" y="1592650"/>
            <a:ext cx="6189133" cy="520945"/>
          </a:xfrm>
          <a:prstGeom prst="rect">
            <a:avLst/>
          </a:prstGeom>
        </p:spPr>
      </p:pic>
    </p:spTree>
    <p:extLst>
      <p:ext uri="{BB962C8B-B14F-4D97-AF65-F5344CB8AC3E}">
        <p14:creationId xmlns:p14="http://schemas.microsoft.com/office/powerpoint/2010/main" val="2599864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DDEBFCA1-F1EE-43CB-A43A-CC5C6C1591A1}"/>
              </a:ext>
            </a:extLst>
          </p:cNvPr>
          <p:cNvSpPr txBox="1"/>
          <p:nvPr/>
        </p:nvSpPr>
        <p:spPr>
          <a:xfrm>
            <a:off x="631230" y="1082724"/>
            <a:ext cx="4220170" cy="400110"/>
          </a:xfrm>
          <a:prstGeom prst="rect">
            <a:avLst/>
          </a:prstGeom>
          <a:noFill/>
        </p:spPr>
        <p:txBody>
          <a:bodyPr wrap="square">
            <a:spAutoFit/>
          </a:bodyPr>
          <a:lstStyle/>
          <a:p>
            <a:r>
              <a:rPr lang="en-US" sz="2000" b="1" dirty="0">
                <a:latin typeface="Segoe UI Variable Display" pitchFamily="2" charset="0"/>
              </a:rPr>
              <a:t> 8.LINE CONFIGURATION DATA:</a:t>
            </a:r>
            <a:endParaRPr lang="en-IN" sz="2000" b="1" dirty="0">
              <a:latin typeface="Segoe UI Variable Display" pitchFamily="2" charset="0"/>
            </a:endParaRPr>
          </a:p>
        </p:txBody>
      </p:sp>
      <p:pic>
        <p:nvPicPr>
          <p:cNvPr id="61" name="Picture 4" descr="SASTRA University (@SASTRA_Univ ...">
            <a:extLst>
              <a:ext uri="{FF2B5EF4-FFF2-40B4-BE49-F238E27FC236}">
                <a16:creationId xmlns:a16="http://schemas.microsoft.com/office/drawing/2014/main" id="{BC423F92-A513-4B16-B237-D580F42782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3852" y="199496"/>
            <a:ext cx="876830" cy="87683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C4479A1-D884-4CCA-9E04-867FC09D3E14}"/>
              </a:ext>
            </a:extLst>
          </p:cNvPr>
          <p:cNvPicPr>
            <a:picLocks noChangeAspect="1"/>
          </p:cNvPicPr>
          <p:nvPr/>
        </p:nvPicPr>
        <p:blipFill>
          <a:blip r:embed="rId3"/>
          <a:stretch>
            <a:fillRect/>
          </a:stretch>
        </p:blipFill>
        <p:spPr>
          <a:xfrm>
            <a:off x="1664234" y="2016438"/>
            <a:ext cx="5380033" cy="4290406"/>
          </a:xfrm>
          <a:prstGeom prst="rect">
            <a:avLst/>
          </a:prstGeom>
        </p:spPr>
      </p:pic>
      <p:pic>
        <p:nvPicPr>
          <p:cNvPr id="11" name="Picture 10">
            <a:extLst>
              <a:ext uri="{FF2B5EF4-FFF2-40B4-BE49-F238E27FC236}">
                <a16:creationId xmlns:a16="http://schemas.microsoft.com/office/drawing/2014/main" id="{C4CF7DE1-DAD1-4E4B-9DA0-942A55E3529D}"/>
              </a:ext>
            </a:extLst>
          </p:cNvPr>
          <p:cNvPicPr>
            <a:picLocks noChangeAspect="1"/>
          </p:cNvPicPr>
          <p:nvPr/>
        </p:nvPicPr>
        <p:blipFill rotWithShape="1">
          <a:blip r:embed="rId4"/>
          <a:srcRect r="8255"/>
          <a:stretch/>
        </p:blipFill>
        <p:spPr>
          <a:xfrm>
            <a:off x="1664234" y="1673489"/>
            <a:ext cx="4355566" cy="342949"/>
          </a:xfrm>
          <a:prstGeom prst="rect">
            <a:avLst/>
          </a:prstGeom>
        </p:spPr>
      </p:pic>
      <p:sp>
        <p:nvSpPr>
          <p:cNvPr id="26" name="Title 1">
            <a:extLst>
              <a:ext uri="{FF2B5EF4-FFF2-40B4-BE49-F238E27FC236}">
                <a16:creationId xmlns:a16="http://schemas.microsoft.com/office/drawing/2014/main" id="{D34A6F73-3DAF-467C-A5AF-969C84ECE252}"/>
              </a:ext>
            </a:extLst>
          </p:cNvPr>
          <p:cNvSpPr>
            <a:spLocks noGrp="1"/>
          </p:cNvSpPr>
          <p:nvPr>
            <p:ph type="title"/>
          </p:nvPr>
        </p:nvSpPr>
        <p:spPr>
          <a:xfrm>
            <a:off x="399785" y="-32544"/>
            <a:ext cx="10515600" cy="933714"/>
          </a:xfrm>
        </p:spPr>
        <p:txBody>
          <a:bodyPr>
            <a:normAutofit/>
          </a:bodyPr>
          <a:lstStyle/>
          <a:p>
            <a:r>
              <a:rPr lang="en-IN" sz="3600" b="1" dirty="0">
                <a:latin typeface="Segoe UI Variable Display" pitchFamily="2" charset="0"/>
              </a:rPr>
              <a:t>BUS DATA</a:t>
            </a:r>
          </a:p>
        </p:txBody>
      </p:sp>
      <p:pic>
        <p:nvPicPr>
          <p:cNvPr id="7" name="Picture 4" descr="SASTRA University (@SASTRA_Univ ...">
            <a:extLst>
              <a:ext uri="{FF2B5EF4-FFF2-40B4-BE49-F238E27FC236}">
                <a16:creationId xmlns:a16="http://schemas.microsoft.com/office/drawing/2014/main" id="{AD3543B1-66AF-4B0C-8F00-EC3AA32898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3852" y="191030"/>
            <a:ext cx="876830" cy="876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8530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1DA34-1FC1-48BC-9031-AD3DD5772205}"/>
              </a:ext>
            </a:extLst>
          </p:cNvPr>
          <p:cNvSpPr>
            <a:spLocks noGrp="1"/>
          </p:cNvSpPr>
          <p:nvPr>
            <p:ph type="title"/>
          </p:nvPr>
        </p:nvSpPr>
        <p:spPr>
          <a:xfrm>
            <a:off x="169334" y="131120"/>
            <a:ext cx="10515600" cy="605367"/>
          </a:xfrm>
        </p:spPr>
        <p:txBody>
          <a:bodyPr>
            <a:normAutofit/>
          </a:bodyPr>
          <a:lstStyle/>
          <a:p>
            <a:r>
              <a:rPr lang="en-IN" sz="3200" b="1" dirty="0">
                <a:latin typeface="Segoe UI Variable Display" pitchFamily="2" charset="0"/>
              </a:rPr>
              <a:t>VOLTAGE VARIATION </a:t>
            </a:r>
            <a:r>
              <a:rPr lang="en-IN" sz="3600" b="1" dirty="0">
                <a:latin typeface="Segoe UI Variable Display" pitchFamily="2" charset="0"/>
              </a:rPr>
              <a:t>(</a:t>
            </a:r>
            <a:r>
              <a:rPr lang="en-IN" sz="3200" b="1" dirty="0">
                <a:latin typeface="Segoe UI Variable Display" pitchFamily="2" charset="0"/>
              </a:rPr>
              <a:t>LINE 632-671) ON A DAY</a:t>
            </a:r>
          </a:p>
        </p:txBody>
      </p:sp>
      <p:sp>
        <p:nvSpPr>
          <p:cNvPr id="12" name="TextBox 11">
            <a:extLst>
              <a:ext uri="{FF2B5EF4-FFF2-40B4-BE49-F238E27FC236}">
                <a16:creationId xmlns:a16="http://schemas.microsoft.com/office/drawing/2014/main" id="{5A8E81B0-BE05-42BA-B834-59BEA1EC3D87}"/>
              </a:ext>
            </a:extLst>
          </p:cNvPr>
          <p:cNvSpPr txBox="1"/>
          <p:nvPr/>
        </p:nvSpPr>
        <p:spPr>
          <a:xfrm>
            <a:off x="6514332" y="4081621"/>
            <a:ext cx="5146668" cy="276999"/>
          </a:xfrm>
          <a:prstGeom prst="rect">
            <a:avLst/>
          </a:prstGeom>
          <a:noFill/>
        </p:spPr>
        <p:txBody>
          <a:bodyPr wrap="square" rtlCol="0">
            <a:spAutoFit/>
          </a:bodyPr>
          <a:lstStyle/>
          <a:p>
            <a:r>
              <a:rPr lang="en-IN" sz="1200" b="1" dirty="0">
                <a:latin typeface="Segoe UI Variable Display" pitchFamily="2" charset="0"/>
              </a:rPr>
              <a:t>BEFORE </a:t>
            </a:r>
            <a:r>
              <a:rPr lang="en-IN" sz="1200" dirty="0">
                <a:latin typeface="Segoe UI Variable Display" pitchFamily="2" charset="0"/>
              </a:rPr>
              <a:t>ADDITION OF NEW LOADS WITH CAPACITOR COMPENSATION</a:t>
            </a:r>
          </a:p>
        </p:txBody>
      </p:sp>
      <p:sp>
        <p:nvSpPr>
          <p:cNvPr id="14" name="TextBox 13">
            <a:extLst>
              <a:ext uri="{FF2B5EF4-FFF2-40B4-BE49-F238E27FC236}">
                <a16:creationId xmlns:a16="http://schemas.microsoft.com/office/drawing/2014/main" id="{C658ECE3-363C-45DC-AB53-9F751E9922F1}"/>
              </a:ext>
            </a:extLst>
          </p:cNvPr>
          <p:cNvSpPr txBox="1"/>
          <p:nvPr/>
        </p:nvSpPr>
        <p:spPr>
          <a:xfrm>
            <a:off x="6514332" y="1547311"/>
            <a:ext cx="4936066" cy="276999"/>
          </a:xfrm>
          <a:prstGeom prst="rect">
            <a:avLst/>
          </a:prstGeom>
          <a:noFill/>
        </p:spPr>
        <p:txBody>
          <a:bodyPr wrap="square" rtlCol="0">
            <a:spAutoFit/>
          </a:bodyPr>
          <a:lstStyle/>
          <a:p>
            <a:r>
              <a:rPr lang="en-IN" sz="1200" b="1" dirty="0">
                <a:latin typeface="Segoe UI Variable Display" pitchFamily="2" charset="0"/>
              </a:rPr>
              <a:t>AFTER </a:t>
            </a:r>
            <a:r>
              <a:rPr lang="en-IN" sz="1200" dirty="0">
                <a:latin typeface="Segoe UI Variable Display" pitchFamily="2" charset="0"/>
              </a:rPr>
              <a:t>ADDITION OF NEW LOADS WITH CAPACITOR COMPENSATION</a:t>
            </a:r>
          </a:p>
        </p:txBody>
      </p:sp>
      <p:pic>
        <p:nvPicPr>
          <p:cNvPr id="7" name="Picture 6">
            <a:extLst>
              <a:ext uri="{FF2B5EF4-FFF2-40B4-BE49-F238E27FC236}">
                <a16:creationId xmlns:a16="http://schemas.microsoft.com/office/drawing/2014/main" id="{8C657F28-28CF-4B1A-9AA0-AFCF84B46A49}"/>
              </a:ext>
            </a:extLst>
          </p:cNvPr>
          <p:cNvPicPr>
            <a:picLocks noChangeAspect="1"/>
          </p:cNvPicPr>
          <p:nvPr/>
        </p:nvPicPr>
        <p:blipFill rotWithShape="1">
          <a:blip r:embed="rId2"/>
          <a:srcRect l="7222" r="8575"/>
          <a:stretch/>
        </p:blipFill>
        <p:spPr>
          <a:xfrm>
            <a:off x="659661" y="647722"/>
            <a:ext cx="5263276" cy="3109088"/>
          </a:xfrm>
          <a:prstGeom prst="rect">
            <a:avLst/>
          </a:prstGeom>
        </p:spPr>
      </p:pic>
      <p:pic>
        <p:nvPicPr>
          <p:cNvPr id="9" name="Picture 8">
            <a:extLst>
              <a:ext uri="{FF2B5EF4-FFF2-40B4-BE49-F238E27FC236}">
                <a16:creationId xmlns:a16="http://schemas.microsoft.com/office/drawing/2014/main" id="{C871B69E-F476-4FE2-B838-7B143D17B7D4}"/>
              </a:ext>
            </a:extLst>
          </p:cNvPr>
          <p:cNvPicPr>
            <a:picLocks noChangeAspect="1"/>
          </p:cNvPicPr>
          <p:nvPr/>
        </p:nvPicPr>
        <p:blipFill rotWithShape="1">
          <a:blip r:embed="rId3"/>
          <a:srcRect l="6086" t="6562" r="8287" b="2112"/>
          <a:stretch/>
        </p:blipFill>
        <p:spPr>
          <a:xfrm>
            <a:off x="383862" y="3789387"/>
            <a:ext cx="5712138" cy="3030298"/>
          </a:xfrm>
          <a:prstGeom prst="rect">
            <a:avLst/>
          </a:prstGeom>
        </p:spPr>
      </p:pic>
      <p:pic>
        <p:nvPicPr>
          <p:cNvPr id="21" name="Picture 4" descr="SASTRA University (@SASTRA_Univ ...">
            <a:extLst>
              <a:ext uri="{FF2B5EF4-FFF2-40B4-BE49-F238E27FC236}">
                <a16:creationId xmlns:a16="http://schemas.microsoft.com/office/drawing/2014/main" id="{58867B34-4CA4-465B-A68A-09DB16DC97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23852" y="191030"/>
            <a:ext cx="876830" cy="876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9613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descr="SASTRA University (@SASTRA_Univ ...">
            <a:extLst>
              <a:ext uri="{FF2B5EF4-FFF2-40B4-BE49-F238E27FC236}">
                <a16:creationId xmlns:a16="http://schemas.microsoft.com/office/drawing/2014/main" id="{6EBE9825-ACF4-4910-AB78-4648ABEC07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5385" y="216429"/>
            <a:ext cx="876830" cy="87683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DA0D1575-A151-46B5-B980-D9B439039CAE}"/>
              </a:ext>
            </a:extLst>
          </p:cNvPr>
          <p:cNvSpPr>
            <a:spLocks noGrp="1"/>
          </p:cNvSpPr>
          <p:nvPr>
            <p:ph type="title"/>
          </p:nvPr>
        </p:nvSpPr>
        <p:spPr>
          <a:xfrm>
            <a:off x="201616" y="0"/>
            <a:ext cx="4732867" cy="876552"/>
          </a:xfrm>
        </p:spPr>
        <p:txBody>
          <a:bodyPr>
            <a:normAutofit/>
          </a:bodyPr>
          <a:lstStyle/>
          <a:p>
            <a:r>
              <a:rPr lang="en-IN" sz="3200" b="1" dirty="0">
                <a:latin typeface="Segoe UI Variable Display" pitchFamily="2" charset="0"/>
              </a:rPr>
              <a:t>BUS VOLTAGE PROFILE </a:t>
            </a:r>
          </a:p>
        </p:txBody>
      </p:sp>
      <p:graphicFrame>
        <p:nvGraphicFramePr>
          <p:cNvPr id="2" name="Table 1">
            <a:extLst>
              <a:ext uri="{FF2B5EF4-FFF2-40B4-BE49-F238E27FC236}">
                <a16:creationId xmlns:a16="http://schemas.microsoft.com/office/drawing/2014/main" id="{39CA4E9B-611F-41FE-8E06-B2C92A0DC672}"/>
              </a:ext>
            </a:extLst>
          </p:cNvPr>
          <p:cNvGraphicFramePr>
            <a:graphicFrameLocks noGrp="1"/>
          </p:cNvGraphicFramePr>
          <p:nvPr>
            <p:extLst>
              <p:ext uri="{D42A27DB-BD31-4B8C-83A1-F6EECF244321}">
                <p14:modId xmlns:p14="http://schemas.microsoft.com/office/powerpoint/2010/main" val="3747488961"/>
              </p:ext>
            </p:extLst>
          </p:nvPr>
        </p:nvGraphicFramePr>
        <p:xfrm>
          <a:off x="201616" y="1093259"/>
          <a:ext cx="11480800" cy="5476422"/>
        </p:xfrm>
        <a:graphic>
          <a:graphicData uri="http://schemas.openxmlformats.org/drawingml/2006/table">
            <a:tbl>
              <a:tblPr/>
              <a:tblGrid>
                <a:gridCol w="1148080">
                  <a:extLst>
                    <a:ext uri="{9D8B030D-6E8A-4147-A177-3AD203B41FA5}">
                      <a16:colId xmlns:a16="http://schemas.microsoft.com/office/drawing/2014/main" val="4246258843"/>
                    </a:ext>
                  </a:extLst>
                </a:gridCol>
                <a:gridCol w="1148080">
                  <a:extLst>
                    <a:ext uri="{9D8B030D-6E8A-4147-A177-3AD203B41FA5}">
                      <a16:colId xmlns:a16="http://schemas.microsoft.com/office/drawing/2014/main" val="3482761734"/>
                    </a:ext>
                  </a:extLst>
                </a:gridCol>
                <a:gridCol w="1148080">
                  <a:extLst>
                    <a:ext uri="{9D8B030D-6E8A-4147-A177-3AD203B41FA5}">
                      <a16:colId xmlns:a16="http://schemas.microsoft.com/office/drawing/2014/main" val="620730101"/>
                    </a:ext>
                  </a:extLst>
                </a:gridCol>
                <a:gridCol w="1148080">
                  <a:extLst>
                    <a:ext uri="{9D8B030D-6E8A-4147-A177-3AD203B41FA5}">
                      <a16:colId xmlns:a16="http://schemas.microsoft.com/office/drawing/2014/main" val="1983328948"/>
                    </a:ext>
                  </a:extLst>
                </a:gridCol>
                <a:gridCol w="1148080">
                  <a:extLst>
                    <a:ext uri="{9D8B030D-6E8A-4147-A177-3AD203B41FA5}">
                      <a16:colId xmlns:a16="http://schemas.microsoft.com/office/drawing/2014/main" val="3179329535"/>
                    </a:ext>
                  </a:extLst>
                </a:gridCol>
                <a:gridCol w="1148080">
                  <a:extLst>
                    <a:ext uri="{9D8B030D-6E8A-4147-A177-3AD203B41FA5}">
                      <a16:colId xmlns:a16="http://schemas.microsoft.com/office/drawing/2014/main" val="4079488672"/>
                    </a:ext>
                  </a:extLst>
                </a:gridCol>
                <a:gridCol w="1148080">
                  <a:extLst>
                    <a:ext uri="{9D8B030D-6E8A-4147-A177-3AD203B41FA5}">
                      <a16:colId xmlns:a16="http://schemas.microsoft.com/office/drawing/2014/main" val="846173008"/>
                    </a:ext>
                  </a:extLst>
                </a:gridCol>
                <a:gridCol w="1148080">
                  <a:extLst>
                    <a:ext uri="{9D8B030D-6E8A-4147-A177-3AD203B41FA5}">
                      <a16:colId xmlns:a16="http://schemas.microsoft.com/office/drawing/2014/main" val="2351248705"/>
                    </a:ext>
                  </a:extLst>
                </a:gridCol>
                <a:gridCol w="1148080">
                  <a:extLst>
                    <a:ext uri="{9D8B030D-6E8A-4147-A177-3AD203B41FA5}">
                      <a16:colId xmlns:a16="http://schemas.microsoft.com/office/drawing/2014/main" val="3528027261"/>
                    </a:ext>
                  </a:extLst>
                </a:gridCol>
                <a:gridCol w="1148080">
                  <a:extLst>
                    <a:ext uri="{9D8B030D-6E8A-4147-A177-3AD203B41FA5}">
                      <a16:colId xmlns:a16="http://schemas.microsoft.com/office/drawing/2014/main" val="2995535547"/>
                    </a:ext>
                  </a:extLst>
                </a:gridCol>
              </a:tblGrid>
              <a:tr h="845769">
                <a:tc>
                  <a:txBody>
                    <a:bodyPr/>
                    <a:lstStyle/>
                    <a:p>
                      <a:pPr algn="ctr" fontAlgn="b"/>
                      <a:r>
                        <a:rPr lang="en-IN" sz="1400" b="1" i="0" u="none" strike="noStrike" dirty="0">
                          <a:solidFill>
                            <a:srgbClr val="000000"/>
                          </a:solidFill>
                          <a:effectLst/>
                          <a:latin typeface="Segoe UI Variable Display" pitchFamily="2" charset="0"/>
                        </a:rPr>
                        <a:t>BUS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Segoe UI Variable Display" pitchFamily="2" charset="0"/>
                        </a:rPr>
                        <a:t> NODE1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Segoe UI Variable Display" pitchFamily="2" charset="0"/>
                        </a:rPr>
                        <a:t> MAGNITUDE1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Segoe UI Variable Display" pitchFamily="2" charset="0"/>
                        </a:rPr>
                        <a:t> PU1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Segoe UI Variable Display" pitchFamily="2" charset="0"/>
                        </a:rPr>
                        <a:t> NODE2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Segoe UI Variable Display" pitchFamily="2" charset="0"/>
                        </a:rPr>
                        <a:t> MAGNITUDE2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Segoe UI Variable Display" pitchFamily="2" charset="0"/>
                        </a:rPr>
                        <a:t> PU2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Segoe UI Variable Display" pitchFamily="2" charset="0"/>
                        </a:rPr>
                        <a:t> NODE3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Segoe UI Variable Display" pitchFamily="2" charset="0"/>
                        </a:rPr>
                        <a:t> MAGNITUDE3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Segoe UI Variable Display" pitchFamily="2" charset="0"/>
                        </a:rPr>
                        <a:t> PU3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82027"/>
                  </a:ext>
                </a:extLst>
              </a:tr>
              <a:tr h="567979">
                <a:tc>
                  <a:txBody>
                    <a:bodyPr/>
                    <a:lstStyle/>
                    <a:p>
                      <a:pPr algn="ctr" fontAlgn="b"/>
                      <a:r>
                        <a:rPr lang="en-IN" sz="1400" b="0" i="0" u="none" strike="noStrike">
                          <a:solidFill>
                            <a:srgbClr val="000000"/>
                          </a:solidFill>
                          <a:effectLst/>
                          <a:latin typeface="Segoe UI Variable Display" pitchFamily="2" charset="0"/>
                        </a:rPr>
                        <a:t>SOURCEBUS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66345.3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0.99925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66358.2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0.99944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66340.8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0.99918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7932816"/>
                  </a:ext>
                </a:extLst>
              </a:tr>
              <a:tr h="290191">
                <a:tc>
                  <a:txBody>
                    <a:bodyPr/>
                    <a:lstStyle/>
                    <a:p>
                      <a:pPr algn="ctr" fontAlgn="b"/>
                      <a:r>
                        <a:rPr lang="en-IN" sz="1400" b="0" i="0" u="none" strike="noStrike">
                          <a:solidFill>
                            <a:srgbClr val="000000"/>
                          </a:solidFill>
                          <a:effectLst/>
                          <a:latin typeface="Segoe UI Variable Display" pitchFamily="2" charset="0"/>
                        </a:rPr>
                        <a:t>650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2374.75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0.98875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2381.65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0.99162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2375.69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0.98914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2913523"/>
                  </a:ext>
                </a:extLst>
              </a:tr>
              <a:tr h="290191">
                <a:tc>
                  <a:txBody>
                    <a:bodyPr/>
                    <a:lstStyle/>
                    <a:p>
                      <a:pPr algn="ctr" fontAlgn="b"/>
                      <a:r>
                        <a:rPr lang="en-IN" sz="1400" b="0" i="0" u="none" strike="noStrike">
                          <a:solidFill>
                            <a:srgbClr val="000000"/>
                          </a:solidFill>
                          <a:effectLst/>
                          <a:latin typeface="Segoe UI Variable Display" pitchFamily="2" charset="0"/>
                        </a:rPr>
                        <a:t>RG60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2369.58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0.98659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2377.83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0.99003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2370.65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0.98704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2406695"/>
                  </a:ext>
                </a:extLst>
              </a:tr>
              <a:tr h="290191">
                <a:tc>
                  <a:txBody>
                    <a:bodyPr/>
                    <a:lstStyle/>
                    <a:p>
                      <a:pPr algn="ctr" fontAlgn="b"/>
                      <a:r>
                        <a:rPr lang="en-IN" sz="1400" b="0" i="0" u="none" strike="noStrike">
                          <a:solidFill>
                            <a:srgbClr val="000000"/>
                          </a:solidFill>
                          <a:effectLst/>
                          <a:latin typeface="Segoe UI Variable Display" pitchFamily="2" charset="0"/>
                        </a:rPr>
                        <a:t>633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2293.49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0.95491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2369.11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0.9864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2296.83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0.9563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9328590"/>
                  </a:ext>
                </a:extLst>
              </a:tr>
              <a:tr h="290191">
                <a:tc>
                  <a:txBody>
                    <a:bodyPr/>
                    <a:lstStyle/>
                    <a:p>
                      <a:pPr algn="ctr" fontAlgn="b"/>
                      <a:r>
                        <a:rPr lang="en-IN" sz="1400" b="0" i="0" u="none" strike="noStrike">
                          <a:solidFill>
                            <a:srgbClr val="000000"/>
                          </a:solidFill>
                          <a:effectLst/>
                          <a:latin typeface="Segoe UI Variable Display" pitchFamily="2" charset="0"/>
                        </a:rPr>
                        <a:t>634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259.836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0.9376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269.621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0.97291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261.22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0.94259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8389851"/>
                  </a:ext>
                </a:extLst>
              </a:tr>
              <a:tr h="290191">
                <a:tc>
                  <a:txBody>
                    <a:bodyPr/>
                    <a:lstStyle/>
                    <a:p>
                      <a:pPr algn="ctr" fontAlgn="b"/>
                      <a:r>
                        <a:rPr lang="en-IN" sz="1400" b="0" i="0" u="none" strike="noStrike">
                          <a:solidFill>
                            <a:srgbClr val="000000"/>
                          </a:solidFill>
                          <a:effectLst/>
                          <a:latin typeface="Segoe UI Variable Display" pitchFamily="2" charset="0"/>
                        </a:rPr>
                        <a:t>671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2246.73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0.93545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2397.18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0.99809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2246.43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0.93532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9190458"/>
                  </a:ext>
                </a:extLst>
              </a:tr>
              <a:tr h="290191">
                <a:tc>
                  <a:txBody>
                    <a:bodyPr/>
                    <a:lstStyle/>
                    <a:p>
                      <a:pPr algn="ctr" fontAlgn="b"/>
                      <a:r>
                        <a:rPr lang="en-IN" sz="1400" b="0" i="0" u="none" strike="noStrike">
                          <a:solidFill>
                            <a:srgbClr val="000000"/>
                          </a:solidFill>
                          <a:effectLst/>
                          <a:latin typeface="Segoe UI Variable Display" pitchFamily="2" charset="0"/>
                        </a:rPr>
                        <a:t>645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2356.47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0.98114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2298.13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0.95684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0841620"/>
                  </a:ext>
                </a:extLst>
              </a:tr>
              <a:tr h="290191">
                <a:tc>
                  <a:txBody>
                    <a:bodyPr/>
                    <a:lstStyle/>
                    <a:p>
                      <a:pPr algn="ctr" fontAlgn="b"/>
                      <a:r>
                        <a:rPr lang="en-IN" sz="1400" b="0" i="0" u="none" strike="noStrike">
                          <a:solidFill>
                            <a:srgbClr val="000000"/>
                          </a:solidFill>
                          <a:effectLst/>
                          <a:latin typeface="Segoe UI Variable Display" pitchFamily="2" charset="0"/>
                        </a:rPr>
                        <a:t>646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2353.52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0.97991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2294.63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0.95539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8143969"/>
                  </a:ext>
                </a:extLst>
              </a:tr>
              <a:tr h="290191">
                <a:tc>
                  <a:txBody>
                    <a:bodyPr/>
                    <a:lstStyle/>
                    <a:p>
                      <a:pPr algn="ctr" fontAlgn="b"/>
                      <a:r>
                        <a:rPr lang="en-IN" sz="1400" b="0" i="0" u="none" strike="noStrike">
                          <a:solidFill>
                            <a:srgbClr val="000000"/>
                          </a:solidFill>
                          <a:effectLst/>
                          <a:latin typeface="Segoe UI Variable Display" pitchFamily="2" charset="0"/>
                        </a:rPr>
                        <a:t>692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2246.7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0.93543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2397.25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0.99811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2246.4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0.93531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9014869"/>
                  </a:ext>
                </a:extLst>
              </a:tr>
              <a:tr h="290191">
                <a:tc>
                  <a:txBody>
                    <a:bodyPr/>
                    <a:lstStyle/>
                    <a:p>
                      <a:pPr algn="ctr" fontAlgn="b"/>
                      <a:r>
                        <a:rPr lang="en-IN" sz="1400" b="0" i="0" u="none" strike="noStrike">
                          <a:solidFill>
                            <a:srgbClr val="000000"/>
                          </a:solidFill>
                          <a:effectLst/>
                          <a:latin typeface="Segoe UI Variable Display" pitchFamily="2" charset="0"/>
                        </a:rPr>
                        <a:t>675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2236.43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0.93116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2401.93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1.0001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2244.19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0.93439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9758476"/>
                  </a:ext>
                </a:extLst>
              </a:tr>
              <a:tr h="290191">
                <a:tc>
                  <a:txBody>
                    <a:bodyPr/>
                    <a:lstStyle/>
                    <a:p>
                      <a:pPr algn="ctr" fontAlgn="b"/>
                      <a:r>
                        <a:rPr lang="en-IN" sz="1400" b="0" i="0" u="none" strike="noStrike">
                          <a:solidFill>
                            <a:srgbClr val="000000"/>
                          </a:solidFill>
                          <a:effectLst/>
                          <a:latin typeface="Segoe UI Variable Display" pitchFamily="2" charset="0"/>
                        </a:rPr>
                        <a:t>611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2240.92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0.93303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5806275"/>
                  </a:ext>
                </a:extLst>
              </a:tr>
              <a:tr h="290191">
                <a:tc>
                  <a:txBody>
                    <a:bodyPr/>
                    <a:lstStyle/>
                    <a:p>
                      <a:pPr algn="ctr" fontAlgn="b"/>
                      <a:r>
                        <a:rPr lang="en-IN" sz="1400" b="0" i="0" u="none" strike="noStrike">
                          <a:solidFill>
                            <a:srgbClr val="000000"/>
                          </a:solidFill>
                          <a:effectLst/>
                          <a:latin typeface="Segoe UI Variable Display" pitchFamily="2" charset="0"/>
                        </a:rPr>
                        <a:t>652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2233.45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0.92991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6351175"/>
                  </a:ext>
                </a:extLst>
              </a:tr>
              <a:tr h="290191">
                <a:tc>
                  <a:txBody>
                    <a:bodyPr/>
                    <a:lstStyle/>
                    <a:p>
                      <a:pPr algn="ctr" fontAlgn="b"/>
                      <a:r>
                        <a:rPr lang="en-IN" sz="1400" b="0" i="0" u="none" strike="noStrike">
                          <a:solidFill>
                            <a:srgbClr val="000000"/>
                          </a:solidFill>
                          <a:effectLst/>
                          <a:latin typeface="Segoe UI Variable Display" pitchFamily="2" charset="0"/>
                        </a:rPr>
                        <a:t>632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2298.71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0.95709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2372.5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0.98781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2301.38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0.9582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804054"/>
                  </a:ext>
                </a:extLst>
              </a:tr>
              <a:tr h="290191">
                <a:tc>
                  <a:txBody>
                    <a:bodyPr/>
                    <a:lstStyle/>
                    <a:p>
                      <a:pPr algn="ctr" fontAlgn="b"/>
                      <a:r>
                        <a:rPr lang="en-IN" sz="1400" b="0" i="0" u="none" strike="noStrike">
                          <a:solidFill>
                            <a:srgbClr val="000000"/>
                          </a:solidFill>
                          <a:effectLst/>
                          <a:latin typeface="Segoe UI Variable Display" pitchFamily="2" charset="0"/>
                        </a:rPr>
                        <a:t>680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2246.73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0.93545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2397.18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0.99809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2246.43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0.93532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8027207"/>
                  </a:ext>
                </a:extLst>
              </a:tr>
              <a:tr h="290191">
                <a:tc>
                  <a:txBody>
                    <a:bodyPr/>
                    <a:lstStyle/>
                    <a:p>
                      <a:pPr algn="ctr" fontAlgn="b"/>
                      <a:r>
                        <a:rPr lang="en-IN" sz="1400" b="0" i="0" u="none" strike="noStrike">
                          <a:solidFill>
                            <a:srgbClr val="000000"/>
                          </a:solidFill>
                          <a:effectLst/>
                          <a:latin typeface="Segoe UI Variable Display" pitchFamily="2" charset="0"/>
                        </a:rPr>
                        <a:t>684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2243.26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0.934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2243.66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0.93417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7542155"/>
                  </a:ext>
                </a:extLst>
              </a:tr>
            </a:tbl>
          </a:graphicData>
        </a:graphic>
      </p:graphicFrame>
      <p:sp>
        <p:nvSpPr>
          <p:cNvPr id="3" name="TextBox 2">
            <a:extLst>
              <a:ext uri="{FF2B5EF4-FFF2-40B4-BE49-F238E27FC236}">
                <a16:creationId xmlns:a16="http://schemas.microsoft.com/office/drawing/2014/main" id="{F99D6FB2-1589-4B12-94A6-CF711285AA7B}"/>
              </a:ext>
            </a:extLst>
          </p:cNvPr>
          <p:cNvSpPr txBox="1"/>
          <p:nvPr/>
        </p:nvSpPr>
        <p:spPr>
          <a:xfrm>
            <a:off x="4709052" y="537998"/>
            <a:ext cx="4842933" cy="338554"/>
          </a:xfrm>
          <a:prstGeom prst="rect">
            <a:avLst/>
          </a:prstGeom>
          <a:noFill/>
        </p:spPr>
        <p:txBody>
          <a:bodyPr wrap="square" rtlCol="0">
            <a:spAutoFit/>
          </a:bodyPr>
          <a:lstStyle/>
          <a:p>
            <a:r>
              <a:rPr lang="en-IN" sz="1600" dirty="0">
                <a:latin typeface="Segoe UI Variable Display" pitchFamily="2" charset="0"/>
              </a:rPr>
              <a:t>BEFORE LOAD ADDITION AND COMPENSATION</a:t>
            </a:r>
          </a:p>
        </p:txBody>
      </p:sp>
    </p:spTree>
    <p:extLst>
      <p:ext uri="{BB962C8B-B14F-4D97-AF65-F5344CB8AC3E}">
        <p14:creationId xmlns:p14="http://schemas.microsoft.com/office/powerpoint/2010/main" val="3644407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descr="SASTRA University (@SASTRA_Univ ...">
            <a:extLst>
              <a:ext uri="{FF2B5EF4-FFF2-40B4-BE49-F238E27FC236}">
                <a16:creationId xmlns:a16="http://schemas.microsoft.com/office/drawing/2014/main" id="{6EBE9825-ACF4-4910-AB78-4648ABEC07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5385" y="216429"/>
            <a:ext cx="876830" cy="87683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DA0D1575-A151-46B5-B980-D9B439039CAE}"/>
              </a:ext>
            </a:extLst>
          </p:cNvPr>
          <p:cNvSpPr>
            <a:spLocks noGrp="1"/>
          </p:cNvSpPr>
          <p:nvPr>
            <p:ph type="title"/>
          </p:nvPr>
        </p:nvSpPr>
        <p:spPr>
          <a:xfrm>
            <a:off x="201616" y="0"/>
            <a:ext cx="4732867" cy="876552"/>
          </a:xfrm>
        </p:spPr>
        <p:txBody>
          <a:bodyPr>
            <a:normAutofit/>
          </a:bodyPr>
          <a:lstStyle/>
          <a:p>
            <a:r>
              <a:rPr lang="en-IN" sz="3200" b="1" dirty="0">
                <a:latin typeface="Segoe UI Variable Display" pitchFamily="2" charset="0"/>
              </a:rPr>
              <a:t>BUS VOLTAGE PROFILE </a:t>
            </a:r>
          </a:p>
        </p:txBody>
      </p:sp>
      <p:sp>
        <p:nvSpPr>
          <p:cNvPr id="9" name="TextBox 8">
            <a:extLst>
              <a:ext uri="{FF2B5EF4-FFF2-40B4-BE49-F238E27FC236}">
                <a16:creationId xmlns:a16="http://schemas.microsoft.com/office/drawing/2014/main" id="{A0411DF0-DD39-4437-A3E5-1591075CEF43}"/>
              </a:ext>
            </a:extLst>
          </p:cNvPr>
          <p:cNvSpPr txBox="1"/>
          <p:nvPr/>
        </p:nvSpPr>
        <p:spPr>
          <a:xfrm>
            <a:off x="3556930" y="809965"/>
            <a:ext cx="4842933" cy="369332"/>
          </a:xfrm>
          <a:prstGeom prst="rect">
            <a:avLst/>
          </a:prstGeom>
          <a:noFill/>
        </p:spPr>
        <p:txBody>
          <a:bodyPr wrap="square" rtlCol="0">
            <a:spAutoFit/>
          </a:bodyPr>
          <a:lstStyle/>
          <a:p>
            <a:r>
              <a:rPr lang="en-IN" dirty="0">
                <a:latin typeface="Segoe UI Variable Display" pitchFamily="2" charset="0"/>
              </a:rPr>
              <a:t>AFTER LOAD ADDITION AND COMPENSATION</a:t>
            </a:r>
          </a:p>
        </p:txBody>
      </p:sp>
      <p:graphicFrame>
        <p:nvGraphicFramePr>
          <p:cNvPr id="5" name="Table 4">
            <a:extLst>
              <a:ext uri="{FF2B5EF4-FFF2-40B4-BE49-F238E27FC236}">
                <a16:creationId xmlns:a16="http://schemas.microsoft.com/office/drawing/2014/main" id="{D69A1F76-B125-45B8-8274-DAE5A572F663}"/>
              </a:ext>
            </a:extLst>
          </p:cNvPr>
          <p:cNvGraphicFramePr>
            <a:graphicFrameLocks noGrp="1"/>
          </p:cNvGraphicFramePr>
          <p:nvPr>
            <p:extLst>
              <p:ext uri="{D42A27DB-BD31-4B8C-83A1-F6EECF244321}">
                <p14:modId xmlns:p14="http://schemas.microsoft.com/office/powerpoint/2010/main" val="2158632766"/>
              </p:ext>
            </p:extLst>
          </p:nvPr>
        </p:nvGraphicFramePr>
        <p:xfrm>
          <a:off x="183097" y="1408452"/>
          <a:ext cx="11590600" cy="4572996"/>
        </p:xfrm>
        <a:graphic>
          <a:graphicData uri="http://schemas.openxmlformats.org/drawingml/2006/table">
            <a:tbl>
              <a:tblPr/>
              <a:tblGrid>
                <a:gridCol w="1159060">
                  <a:extLst>
                    <a:ext uri="{9D8B030D-6E8A-4147-A177-3AD203B41FA5}">
                      <a16:colId xmlns:a16="http://schemas.microsoft.com/office/drawing/2014/main" val="93800587"/>
                    </a:ext>
                  </a:extLst>
                </a:gridCol>
                <a:gridCol w="1159060">
                  <a:extLst>
                    <a:ext uri="{9D8B030D-6E8A-4147-A177-3AD203B41FA5}">
                      <a16:colId xmlns:a16="http://schemas.microsoft.com/office/drawing/2014/main" val="1993635247"/>
                    </a:ext>
                  </a:extLst>
                </a:gridCol>
                <a:gridCol w="1159060">
                  <a:extLst>
                    <a:ext uri="{9D8B030D-6E8A-4147-A177-3AD203B41FA5}">
                      <a16:colId xmlns:a16="http://schemas.microsoft.com/office/drawing/2014/main" val="2665889532"/>
                    </a:ext>
                  </a:extLst>
                </a:gridCol>
                <a:gridCol w="1159060">
                  <a:extLst>
                    <a:ext uri="{9D8B030D-6E8A-4147-A177-3AD203B41FA5}">
                      <a16:colId xmlns:a16="http://schemas.microsoft.com/office/drawing/2014/main" val="739515098"/>
                    </a:ext>
                  </a:extLst>
                </a:gridCol>
                <a:gridCol w="1159060">
                  <a:extLst>
                    <a:ext uri="{9D8B030D-6E8A-4147-A177-3AD203B41FA5}">
                      <a16:colId xmlns:a16="http://schemas.microsoft.com/office/drawing/2014/main" val="952350670"/>
                    </a:ext>
                  </a:extLst>
                </a:gridCol>
                <a:gridCol w="1159060">
                  <a:extLst>
                    <a:ext uri="{9D8B030D-6E8A-4147-A177-3AD203B41FA5}">
                      <a16:colId xmlns:a16="http://schemas.microsoft.com/office/drawing/2014/main" val="3033418411"/>
                    </a:ext>
                  </a:extLst>
                </a:gridCol>
                <a:gridCol w="1159060">
                  <a:extLst>
                    <a:ext uri="{9D8B030D-6E8A-4147-A177-3AD203B41FA5}">
                      <a16:colId xmlns:a16="http://schemas.microsoft.com/office/drawing/2014/main" val="1508525042"/>
                    </a:ext>
                  </a:extLst>
                </a:gridCol>
                <a:gridCol w="1159060">
                  <a:extLst>
                    <a:ext uri="{9D8B030D-6E8A-4147-A177-3AD203B41FA5}">
                      <a16:colId xmlns:a16="http://schemas.microsoft.com/office/drawing/2014/main" val="704311638"/>
                    </a:ext>
                  </a:extLst>
                </a:gridCol>
                <a:gridCol w="1159060">
                  <a:extLst>
                    <a:ext uri="{9D8B030D-6E8A-4147-A177-3AD203B41FA5}">
                      <a16:colId xmlns:a16="http://schemas.microsoft.com/office/drawing/2014/main" val="1497535943"/>
                    </a:ext>
                  </a:extLst>
                </a:gridCol>
                <a:gridCol w="1159060">
                  <a:extLst>
                    <a:ext uri="{9D8B030D-6E8A-4147-A177-3AD203B41FA5}">
                      <a16:colId xmlns:a16="http://schemas.microsoft.com/office/drawing/2014/main" val="2793352170"/>
                    </a:ext>
                  </a:extLst>
                </a:gridCol>
              </a:tblGrid>
              <a:tr h="739266">
                <a:tc>
                  <a:txBody>
                    <a:bodyPr/>
                    <a:lstStyle/>
                    <a:p>
                      <a:pPr algn="ctr" fontAlgn="b"/>
                      <a:r>
                        <a:rPr lang="en-IN" sz="1400" b="1" i="0" u="none" strike="noStrike" dirty="0">
                          <a:solidFill>
                            <a:srgbClr val="000000"/>
                          </a:solidFill>
                          <a:effectLst/>
                          <a:latin typeface="Segoe UI Variable Display" pitchFamily="2" charset="0"/>
                        </a:rPr>
                        <a:t>BUS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Segoe UI Variable Display" pitchFamily="2" charset="0"/>
                        </a:rPr>
                        <a:t> NODE1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Segoe UI Variable Display" pitchFamily="2" charset="0"/>
                        </a:rPr>
                        <a:t> MAGNITUDE1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Segoe UI Variable Display" pitchFamily="2" charset="0"/>
                        </a:rPr>
                        <a:t> PU1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Segoe UI Variable Display" pitchFamily="2" charset="0"/>
                        </a:rPr>
                        <a:t> NODE2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Segoe UI Variable Display" pitchFamily="2" charset="0"/>
                        </a:rPr>
                        <a:t> MAGNITUDE2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Segoe UI Variable Display" pitchFamily="2" charset="0"/>
                        </a:rPr>
                        <a:t> PU2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Segoe UI Variable Display" pitchFamily="2" charset="0"/>
                        </a:rPr>
                        <a:t> NODE3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Segoe UI Variable Display" pitchFamily="2" charset="0"/>
                        </a:rPr>
                        <a:t> MAGNITUDE3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Segoe UI Variable Display" pitchFamily="2" charset="0"/>
                        </a:rPr>
                        <a:t> PU3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1092866"/>
                  </a:ext>
                </a:extLst>
              </a:tr>
              <a:tr h="255582">
                <a:tc>
                  <a:txBody>
                    <a:bodyPr/>
                    <a:lstStyle/>
                    <a:p>
                      <a:pPr algn="ctr" fontAlgn="b"/>
                      <a:r>
                        <a:rPr lang="en-IN" sz="1400" b="0" i="0" u="none" strike="noStrike">
                          <a:solidFill>
                            <a:srgbClr val="000000"/>
                          </a:solidFill>
                          <a:effectLst/>
                          <a:latin typeface="Segoe UI Variable Display" pitchFamily="2" charset="0"/>
                        </a:rPr>
                        <a:t>SOURCEBUS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66342.8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0.99921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66358.6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0.99945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66339.4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0.99916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8024873"/>
                  </a:ext>
                </a:extLst>
              </a:tr>
              <a:tr h="255582">
                <a:tc>
                  <a:txBody>
                    <a:bodyPr/>
                    <a:lstStyle/>
                    <a:p>
                      <a:pPr algn="ctr" fontAlgn="b"/>
                      <a:r>
                        <a:rPr lang="en-IN" sz="1400" b="0" i="0" u="none" strike="noStrike">
                          <a:solidFill>
                            <a:srgbClr val="000000"/>
                          </a:solidFill>
                          <a:effectLst/>
                          <a:latin typeface="Segoe UI Variable Display" pitchFamily="2" charset="0"/>
                        </a:rPr>
                        <a:t>650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2371.24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0.98728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2379.83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0.99086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2372.74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0.98791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2273984"/>
                  </a:ext>
                </a:extLst>
              </a:tr>
              <a:tr h="255582">
                <a:tc>
                  <a:txBody>
                    <a:bodyPr/>
                    <a:lstStyle/>
                    <a:p>
                      <a:pPr algn="ctr" fontAlgn="b"/>
                      <a:r>
                        <a:rPr lang="en-IN" sz="1400" b="0" i="0" u="none" strike="noStrike" dirty="0">
                          <a:solidFill>
                            <a:srgbClr val="000000"/>
                          </a:solidFill>
                          <a:effectLst/>
                          <a:latin typeface="Segoe UI Variable Display" pitchFamily="2" charset="0"/>
                        </a:rPr>
                        <a:t>RG60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2365.38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0.98485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2375.66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0.98912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2367.11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0.98557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9370611"/>
                  </a:ext>
                </a:extLst>
              </a:tr>
              <a:tr h="255582">
                <a:tc>
                  <a:txBody>
                    <a:bodyPr/>
                    <a:lstStyle/>
                    <a:p>
                      <a:pPr algn="ctr" fontAlgn="b"/>
                      <a:r>
                        <a:rPr lang="en-IN" sz="1400" b="0" i="0" u="none" strike="noStrike">
                          <a:solidFill>
                            <a:srgbClr val="000000"/>
                          </a:solidFill>
                          <a:effectLst/>
                          <a:latin typeface="Segoe UI Variable Display" pitchFamily="2" charset="0"/>
                        </a:rPr>
                        <a:t>633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2287.16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0.95228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2371.36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0.98733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2287.78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0.95254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9764768"/>
                  </a:ext>
                </a:extLst>
              </a:tr>
              <a:tr h="255582">
                <a:tc>
                  <a:txBody>
                    <a:bodyPr/>
                    <a:lstStyle/>
                    <a:p>
                      <a:pPr algn="ctr" fontAlgn="b"/>
                      <a:r>
                        <a:rPr lang="en-IN" sz="1400" b="0" i="0" u="none" strike="noStrike">
                          <a:solidFill>
                            <a:srgbClr val="000000"/>
                          </a:solidFill>
                          <a:effectLst/>
                          <a:latin typeface="Segoe UI Variable Display" pitchFamily="2" charset="0"/>
                        </a:rPr>
                        <a:t>634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259.12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0.93502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269.883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0.97386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260.192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0.93889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2993703"/>
                  </a:ext>
                </a:extLst>
              </a:tr>
              <a:tr h="255582">
                <a:tc>
                  <a:txBody>
                    <a:bodyPr/>
                    <a:lstStyle/>
                    <a:p>
                      <a:pPr algn="ctr" fontAlgn="b"/>
                      <a:r>
                        <a:rPr lang="en-IN" sz="1400" b="0" i="0" u="none" strike="noStrike">
                          <a:solidFill>
                            <a:srgbClr val="000000"/>
                          </a:solidFill>
                          <a:effectLst/>
                          <a:latin typeface="Segoe UI Variable Display" pitchFamily="2" charset="0"/>
                        </a:rPr>
                        <a:t>671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2239.53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0.93245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2404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1.0009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2232.25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0.92942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2248807"/>
                  </a:ext>
                </a:extLst>
              </a:tr>
              <a:tr h="255582">
                <a:tc>
                  <a:txBody>
                    <a:bodyPr/>
                    <a:lstStyle/>
                    <a:p>
                      <a:pPr algn="ctr" fontAlgn="b"/>
                      <a:r>
                        <a:rPr lang="en-IN" sz="1400" b="0" i="0" u="none" strike="noStrike">
                          <a:solidFill>
                            <a:srgbClr val="000000"/>
                          </a:solidFill>
                          <a:effectLst/>
                          <a:latin typeface="Segoe UI Variable Display" pitchFamily="2" charset="0"/>
                        </a:rPr>
                        <a:t>645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2358.72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0.98207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2289.04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0.95306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451493"/>
                  </a:ext>
                </a:extLst>
              </a:tr>
              <a:tr h="255582">
                <a:tc>
                  <a:txBody>
                    <a:bodyPr/>
                    <a:lstStyle/>
                    <a:p>
                      <a:pPr algn="ctr" fontAlgn="b"/>
                      <a:r>
                        <a:rPr lang="en-IN" sz="1400" b="0" i="0" u="none" strike="noStrike" dirty="0">
                          <a:solidFill>
                            <a:srgbClr val="000000"/>
                          </a:solidFill>
                          <a:effectLst/>
                          <a:latin typeface="Segoe UI Variable Display" pitchFamily="2" charset="0"/>
                        </a:rPr>
                        <a:t>646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2355.75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0.98084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2285.54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0.95161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6607422"/>
                  </a:ext>
                </a:extLst>
              </a:tr>
              <a:tr h="255582">
                <a:tc>
                  <a:txBody>
                    <a:bodyPr/>
                    <a:lstStyle/>
                    <a:p>
                      <a:pPr algn="ctr" fontAlgn="b"/>
                      <a:r>
                        <a:rPr lang="en-IN" sz="1400" b="0" i="0" u="none" strike="noStrike">
                          <a:solidFill>
                            <a:srgbClr val="000000"/>
                          </a:solidFill>
                          <a:effectLst/>
                          <a:latin typeface="Segoe UI Variable Display" pitchFamily="2" charset="0"/>
                        </a:rPr>
                        <a:t>692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2239.49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0.93243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2404.07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1.001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2232.22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0.9294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9754919"/>
                  </a:ext>
                </a:extLst>
              </a:tr>
              <a:tr h="255582">
                <a:tc>
                  <a:txBody>
                    <a:bodyPr/>
                    <a:lstStyle/>
                    <a:p>
                      <a:pPr algn="ctr" fontAlgn="b"/>
                      <a:r>
                        <a:rPr lang="en-IN" sz="1400" b="0" i="0" u="none" strike="noStrike">
                          <a:solidFill>
                            <a:srgbClr val="000000"/>
                          </a:solidFill>
                          <a:effectLst/>
                          <a:latin typeface="Segoe UI Variable Display" pitchFamily="2" charset="0"/>
                        </a:rPr>
                        <a:t>675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2229.24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0.92816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2408.73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1.0029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2230.07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0.92851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5296175"/>
                  </a:ext>
                </a:extLst>
              </a:tr>
              <a:tr h="255582">
                <a:tc>
                  <a:txBody>
                    <a:bodyPr/>
                    <a:lstStyle/>
                    <a:p>
                      <a:pPr algn="ctr" fontAlgn="b"/>
                      <a:r>
                        <a:rPr lang="en-IN" sz="1400" b="0" i="0" u="none" strike="noStrike">
                          <a:solidFill>
                            <a:srgbClr val="000000"/>
                          </a:solidFill>
                          <a:effectLst/>
                          <a:latin typeface="Segoe UI Variable Display" pitchFamily="2" charset="0"/>
                        </a:rPr>
                        <a:t>611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2225.64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0.92666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9915596"/>
                  </a:ext>
                </a:extLst>
              </a:tr>
              <a:tr h="255582">
                <a:tc>
                  <a:txBody>
                    <a:bodyPr/>
                    <a:lstStyle/>
                    <a:p>
                      <a:pPr algn="ctr" fontAlgn="b"/>
                      <a:r>
                        <a:rPr lang="en-IN" sz="1400" b="0" i="0" u="none" strike="noStrike">
                          <a:solidFill>
                            <a:srgbClr val="000000"/>
                          </a:solidFill>
                          <a:effectLst/>
                          <a:latin typeface="Segoe UI Variable Display" pitchFamily="2" charset="0"/>
                        </a:rPr>
                        <a:t>652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2226.78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0.92714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144854"/>
                  </a:ext>
                </a:extLst>
              </a:tr>
              <a:tr h="255582">
                <a:tc>
                  <a:txBody>
                    <a:bodyPr/>
                    <a:lstStyle/>
                    <a:p>
                      <a:pPr algn="ctr" fontAlgn="b"/>
                      <a:r>
                        <a:rPr lang="en-IN" sz="1400" b="0" i="0" u="none" strike="noStrike">
                          <a:solidFill>
                            <a:srgbClr val="000000"/>
                          </a:solidFill>
                          <a:effectLst/>
                          <a:latin typeface="Segoe UI Variable Display" pitchFamily="2" charset="0"/>
                        </a:rPr>
                        <a:t>680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2239.1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0.93227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2404.54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1.0012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2232.06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0.92934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9307030"/>
                  </a:ext>
                </a:extLst>
              </a:tr>
              <a:tr h="255582">
                <a:tc>
                  <a:txBody>
                    <a:bodyPr/>
                    <a:lstStyle/>
                    <a:p>
                      <a:pPr algn="ctr" fontAlgn="b"/>
                      <a:r>
                        <a:rPr lang="en-IN" sz="1400" b="0" i="0" u="none" strike="noStrike">
                          <a:solidFill>
                            <a:srgbClr val="000000"/>
                          </a:solidFill>
                          <a:effectLst/>
                          <a:latin typeface="Segoe UI Variable Display" pitchFamily="2" charset="0"/>
                        </a:rPr>
                        <a:t>684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2236.56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0.93121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2228.36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0.92779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1057485"/>
                  </a:ext>
                </a:extLst>
              </a:tr>
              <a:tr h="255582">
                <a:tc>
                  <a:txBody>
                    <a:bodyPr/>
                    <a:lstStyle/>
                    <a:p>
                      <a:pPr algn="ctr" fontAlgn="b"/>
                      <a:r>
                        <a:rPr lang="en-IN" sz="1400" b="0" i="0" u="none" strike="noStrike">
                          <a:solidFill>
                            <a:srgbClr val="000000"/>
                          </a:solidFill>
                          <a:effectLst/>
                          <a:latin typeface="Segoe UI Variable Display" pitchFamily="2" charset="0"/>
                        </a:rPr>
                        <a:t>632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2292.37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0.95445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2374.74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0.98874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a:solidFill>
                            <a:srgbClr val="000000"/>
                          </a:solidFill>
                          <a:effectLst/>
                          <a:latin typeface="Segoe UI Variable Display" pitchFamily="2" charset="0"/>
                        </a:rPr>
                        <a:t>2292.3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Segoe UI Variable Display" pitchFamily="2" charset="0"/>
                        </a:rPr>
                        <a:t>0.95442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0244587"/>
                  </a:ext>
                </a:extLst>
              </a:tr>
            </a:tbl>
          </a:graphicData>
        </a:graphic>
      </p:graphicFrame>
    </p:spTree>
    <p:extLst>
      <p:ext uri="{BB962C8B-B14F-4D97-AF65-F5344CB8AC3E}">
        <p14:creationId xmlns:p14="http://schemas.microsoft.com/office/powerpoint/2010/main" val="1491841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C1EEEF1-7C90-479C-A892-B703395FD8BF}"/>
              </a:ext>
            </a:extLst>
          </p:cNvPr>
          <p:cNvSpPr txBox="1"/>
          <p:nvPr/>
        </p:nvSpPr>
        <p:spPr>
          <a:xfrm>
            <a:off x="262468" y="90152"/>
            <a:ext cx="6096000" cy="584775"/>
          </a:xfrm>
          <a:prstGeom prst="rect">
            <a:avLst/>
          </a:prstGeom>
          <a:noFill/>
        </p:spPr>
        <p:txBody>
          <a:bodyPr wrap="square">
            <a:spAutoFit/>
          </a:bodyPr>
          <a:lstStyle/>
          <a:p>
            <a:r>
              <a:rPr lang="en-IN" sz="3200" b="1" dirty="0">
                <a:latin typeface="Segoe UI Variable Display" pitchFamily="2" charset="0"/>
                <a:cs typeface="Segoe UI Semibold" panose="020B0702040204020203" pitchFamily="34" charset="0"/>
              </a:rPr>
              <a:t>BUS POWER LOSSES</a:t>
            </a:r>
          </a:p>
        </p:txBody>
      </p:sp>
      <p:pic>
        <p:nvPicPr>
          <p:cNvPr id="4" name="Picture 4" descr="SASTRA University (@SASTRA_Univ ...">
            <a:extLst>
              <a:ext uri="{FF2B5EF4-FFF2-40B4-BE49-F238E27FC236}">
                <a16:creationId xmlns:a16="http://schemas.microsoft.com/office/drawing/2014/main" id="{665BCE6C-61CA-4545-90DA-036E2000C0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5385" y="199496"/>
            <a:ext cx="876830" cy="8768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Table 9">
            <a:extLst>
              <a:ext uri="{FF2B5EF4-FFF2-40B4-BE49-F238E27FC236}">
                <a16:creationId xmlns:a16="http://schemas.microsoft.com/office/drawing/2014/main" id="{20882DF2-D4A4-4FEF-95D2-7AB078DC72F5}"/>
              </a:ext>
            </a:extLst>
          </p:cNvPr>
          <p:cNvGraphicFramePr>
            <a:graphicFrameLocks noGrp="1"/>
          </p:cNvGraphicFramePr>
          <p:nvPr>
            <p:extLst>
              <p:ext uri="{D42A27DB-BD31-4B8C-83A1-F6EECF244321}">
                <p14:modId xmlns:p14="http://schemas.microsoft.com/office/powerpoint/2010/main" val="3383482347"/>
              </p:ext>
            </p:extLst>
          </p:nvPr>
        </p:nvGraphicFramePr>
        <p:xfrm>
          <a:off x="602536" y="858167"/>
          <a:ext cx="6534864" cy="5141666"/>
        </p:xfrm>
        <a:graphic>
          <a:graphicData uri="http://schemas.openxmlformats.org/drawingml/2006/table">
            <a:tbl>
              <a:tblPr/>
              <a:tblGrid>
                <a:gridCol w="1646065">
                  <a:extLst>
                    <a:ext uri="{9D8B030D-6E8A-4147-A177-3AD203B41FA5}">
                      <a16:colId xmlns:a16="http://schemas.microsoft.com/office/drawing/2014/main" val="3108332596"/>
                    </a:ext>
                  </a:extLst>
                </a:gridCol>
                <a:gridCol w="1646065">
                  <a:extLst>
                    <a:ext uri="{9D8B030D-6E8A-4147-A177-3AD203B41FA5}">
                      <a16:colId xmlns:a16="http://schemas.microsoft.com/office/drawing/2014/main" val="4135216290"/>
                    </a:ext>
                  </a:extLst>
                </a:gridCol>
                <a:gridCol w="1646065">
                  <a:extLst>
                    <a:ext uri="{9D8B030D-6E8A-4147-A177-3AD203B41FA5}">
                      <a16:colId xmlns:a16="http://schemas.microsoft.com/office/drawing/2014/main" val="3672081949"/>
                    </a:ext>
                  </a:extLst>
                </a:gridCol>
                <a:gridCol w="1596669">
                  <a:extLst>
                    <a:ext uri="{9D8B030D-6E8A-4147-A177-3AD203B41FA5}">
                      <a16:colId xmlns:a16="http://schemas.microsoft.com/office/drawing/2014/main" val="1347095944"/>
                    </a:ext>
                  </a:extLst>
                </a:gridCol>
              </a:tblGrid>
              <a:tr h="229018">
                <a:tc>
                  <a:txBody>
                    <a:bodyPr/>
                    <a:lstStyle/>
                    <a:p>
                      <a:r>
                        <a:rPr lang="en-IN" sz="1400" b="1">
                          <a:effectLst/>
                          <a:latin typeface="Google Sans Text"/>
                        </a:rPr>
                        <a:t>Element</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a:effectLst/>
                          <a:latin typeface="Google Sans Text"/>
                        </a:rPr>
                        <a:t>kW Losses</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a:effectLst/>
                          <a:latin typeface="Google Sans Text"/>
                        </a:rPr>
                        <a:t>% of Power</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a:effectLst/>
                          <a:latin typeface="Google Sans Text"/>
                        </a:rPr>
                        <a:t>kvar Losses</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2860409"/>
                  </a:ext>
                </a:extLst>
              </a:tr>
              <a:tr h="229018">
                <a:tc>
                  <a:txBody>
                    <a:bodyPr/>
                    <a:lstStyle/>
                    <a:p>
                      <a:r>
                        <a:rPr lang="en-IN" sz="1400" b="1">
                          <a:effectLst/>
                          <a:latin typeface="Google Sans Text"/>
                        </a:rPr>
                        <a:t>Transformer.SUB</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25.420</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1.09</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1.021</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4470055"/>
                  </a:ext>
                </a:extLst>
              </a:tr>
              <a:tr h="229018">
                <a:tc>
                  <a:txBody>
                    <a:bodyPr/>
                    <a:lstStyle/>
                    <a:p>
                      <a:r>
                        <a:rPr lang="en-IN" sz="1400" b="1">
                          <a:effectLst/>
                          <a:latin typeface="Google Sans Text"/>
                        </a:rPr>
                        <a:t>Transformer.REG1</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effectLst/>
                          <a:latin typeface="Google Sans Text"/>
                        </a:rPr>
                        <a:t>2.102</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0.25</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0.264</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1436015"/>
                  </a:ext>
                </a:extLst>
              </a:tr>
              <a:tr h="229018">
                <a:tc>
                  <a:txBody>
                    <a:bodyPr/>
                    <a:lstStyle/>
                    <a:p>
                      <a:r>
                        <a:rPr lang="en-IN" sz="1400" b="1">
                          <a:effectLst/>
                          <a:latin typeface="Google Sans Text"/>
                        </a:rPr>
                        <a:t>Transformer.REG2</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1.064</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0.17</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0.135</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7590845"/>
                  </a:ext>
                </a:extLst>
              </a:tr>
              <a:tr h="229018">
                <a:tc>
                  <a:txBody>
                    <a:bodyPr/>
                    <a:lstStyle/>
                    <a:p>
                      <a:r>
                        <a:rPr lang="en-IN" sz="1400" b="1">
                          <a:effectLst/>
                          <a:latin typeface="Google Sans Text"/>
                        </a:rPr>
                        <a:t>Transformer.REG3</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1.913</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0.23</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0.241</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4875791"/>
                  </a:ext>
                </a:extLst>
              </a:tr>
              <a:tr h="229018">
                <a:tc>
                  <a:txBody>
                    <a:bodyPr/>
                    <a:lstStyle/>
                    <a:p>
                      <a:r>
                        <a:rPr lang="en-IN" sz="1400" b="1">
                          <a:effectLst/>
                          <a:latin typeface="Google Sans Text"/>
                        </a:rPr>
                        <a:t>Transformer.XFM1</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2.878</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1.03</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5.232</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8671648"/>
                  </a:ext>
                </a:extLst>
              </a:tr>
              <a:tr h="229018">
                <a:tc>
                  <a:txBody>
                    <a:bodyPr/>
                    <a:lstStyle/>
                    <a:p>
                      <a:r>
                        <a:rPr lang="en-IN" sz="1400" b="1" dirty="0">
                          <a:effectLst/>
                          <a:latin typeface="Google Sans Text"/>
                        </a:rPr>
                        <a:t>Capacitor.CAP1</a:t>
                      </a:r>
                      <a:endParaRPr lang="en-IN" sz="1400" dirty="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0.000</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0.00</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-548.051</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02683"/>
                  </a:ext>
                </a:extLst>
              </a:tr>
              <a:tr h="229018">
                <a:tc>
                  <a:txBody>
                    <a:bodyPr/>
                    <a:lstStyle/>
                    <a:p>
                      <a:r>
                        <a:rPr lang="en-IN" sz="1400" b="1">
                          <a:effectLst/>
                          <a:latin typeface="Google Sans Text"/>
                        </a:rPr>
                        <a:t>Capacitor.CAP2</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0.000</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0.00</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-87.183</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8974209"/>
                  </a:ext>
                </a:extLst>
              </a:tr>
              <a:tr h="229018">
                <a:tc>
                  <a:txBody>
                    <a:bodyPr/>
                    <a:lstStyle/>
                    <a:p>
                      <a:r>
                        <a:rPr lang="en-IN" sz="1400" b="1">
                          <a:effectLst/>
                          <a:latin typeface="Google Sans Text"/>
                        </a:rPr>
                        <a:t>Line.650632</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26.483</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1.15</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85.271</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4084596"/>
                  </a:ext>
                </a:extLst>
              </a:tr>
              <a:tr h="229018">
                <a:tc>
                  <a:txBody>
                    <a:bodyPr/>
                    <a:lstStyle/>
                    <a:p>
                      <a:r>
                        <a:rPr lang="en-IN" sz="1400" b="1">
                          <a:effectLst/>
                          <a:latin typeface="Google Sans Text"/>
                        </a:rPr>
                        <a:t>Line.632671</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16.663</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0.97</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53.383</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8676937"/>
                  </a:ext>
                </a:extLst>
              </a:tr>
              <a:tr h="229018">
                <a:tc>
                  <a:txBody>
                    <a:bodyPr/>
                    <a:lstStyle/>
                    <a:p>
                      <a:r>
                        <a:rPr lang="en-IN" sz="1400" b="1">
                          <a:effectLst/>
                          <a:latin typeface="Google Sans Text"/>
                        </a:rPr>
                        <a:t>Line.671680</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0.000</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0.00</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-0.004</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2807466"/>
                  </a:ext>
                </a:extLst>
              </a:tr>
              <a:tr h="229018">
                <a:tc>
                  <a:txBody>
                    <a:bodyPr/>
                    <a:lstStyle/>
                    <a:p>
                      <a:r>
                        <a:rPr lang="en-IN" sz="1400" b="1">
                          <a:effectLst/>
                          <a:latin typeface="Google Sans Text"/>
                        </a:rPr>
                        <a:t>Line.632633</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0.427</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0.15</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0.546</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8426659"/>
                  </a:ext>
                </a:extLst>
              </a:tr>
              <a:tr h="229018">
                <a:tc>
                  <a:txBody>
                    <a:bodyPr/>
                    <a:lstStyle/>
                    <a:p>
                      <a:r>
                        <a:rPr lang="en-IN" sz="1400" b="1">
                          <a:effectLst/>
                          <a:latin typeface="Google Sans Text"/>
                        </a:rPr>
                        <a:t>Line.632645</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1.444</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0.51</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1.254</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8553583"/>
                  </a:ext>
                </a:extLst>
              </a:tr>
              <a:tr h="229018">
                <a:tc>
                  <a:txBody>
                    <a:bodyPr/>
                    <a:lstStyle/>
                    <a:p>
                      <a:r>
                        <a:rPr lang="en-IN" sz="1400" b="1">
                          <a:effectLst/>
                          <a:latin typeface="Google Sans Text"/>
                        </a:rPr>
                        <a:t>Line.645646</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0.271</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0.17</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0.215</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1189456"/>
                  </a:ext>
                </a:extLst>
              </a:tr>
              <a:tr h="229018">
                <a:tc>
                  <a:txBody>
                    <a:bodyPr/>
                    <a:lstStyle/>
                    <a:p>
                      <a:r>
                        <a:rPr lang="en-IN" sz="1400" b="1">
                          <a:effectLst/>
                          <a:latin typeface="Google Sans Text"/>
                        </a:rPr>
                        <a:t>Line.671684</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0.318</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0.16</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0.255</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2108383"/>
                  </a:ext>
                </a:extLst>
              </a:tr>
              <a:tr h="229018">
                <a:tc>
                  <a:txBody>
                    <a:bodyPr/>
                    <a:lstStyle/>
                    <a:p>
                      <a:r>
                        <a:rPr lang="en-IN" sz="1400" b="1">
                          <a:effectLst/>
                          <a:latin typeface="Google Sans Text"/>
                        </a:rPr>
                        <a:t>Line.684611</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0.215</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0.19</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0.217</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2659750"/>
                  </a:ext>
                </a:extLst>
              </a:tr>
              <a:tr h="229018">
                <a:tc>
                  <a:txBody>
                    <a:bodyPr/>
                    <a:lstStyle/>
                    <a:p>
                      <a:r>
                        <a:rPr lang="en-IN" sz="1400" b="1">
                          <a:effectLst/>
                          <a:latin typeface="Google Sans Text"/>
                        </a:rPr>
                        <a:t>Line.684652</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0.435</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0.50</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0.099</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773264"/>
                  </a:ext>
                </a:extLst>
              </a:tr>
              <a:tr h="229018">
                <a:tc>
                  <a:txBody>
                    <a:bodyPr/>
                    <a:lstStyle/>
                    <a:p>
                      <a:r>
                        <a:rPr lang="en-IN" sz="1400" b="1">
                          <a:effectLst/>
                          <a:latin typeface="Google Sans Text"/>
                        </a:rPr>
                        <a:t>Line.692675</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2.191</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0.38</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1.210</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1093993"/>
                  </a:ext>
                </a:extLst>
              </a:tr>
              <a:tr h="229018">
                <a:tc>
                  <a:txBody>
                    <a:bodyPr/>
                    <a:lstStyle/>
                    <a:p>
                      <a:r>
                        <a:rPr lang="en-IN" sz="1400" b="1">
                          <a:effectLst/>
                          <a:latin typeface="Google Sans Text"/>
                        </a:rPr>
                        <a:t>Line.671692</a:t>
                      </a:r>
                      <a:endParaRPr lang="en-IN" sz="1400">
                        <a:effectLst/>
                        <a:latin typeface="Google Sans Tex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0.007</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0.00</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effectLst/>
                          <a:latin typeface="Google Sans Text"/>
                        </a:rPr>
                        <a:t>0.007</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2004484"/>
                  </a:ext>
                </a:extLst>
              </a:tr>
            </a:tbl>
          </a:graphicData>
        </a:graphic>
      </p:graphicFrame>
      <p:sp>
        <p:nvSpPr>
          <p:cNvPr id="11" name="TextBox 10">
            <a:extLst>
              <a:ext uri="{FF2B5EF4-FFF2-40B4-BE49-F238E27FC236}">
                <a16:creationId xmlns:a16="http://schemas.microsoft.com/office/drawing/2014/main" id="{C45C9948-0385-4187-8422-E585F793A26A}"/>
              </a:ext>
            </a:extLst>
          </p:cNvPr>
          <p:cNvSpPr txBox="1"/>
          <p:nvPr/>
        </p:nvSpPr>
        <p:spPr>
          <a:xfrm>
            <a:off x="4836052" y="433309"/>
            <a:ext cx="4842933" cy="307777"/>
          </a:xfrm>
          <a:prstGeom prst="rect">
            <a:avLst/>
          </a:prstGeom>
          <a:noFill/>
        </p:spPr>
        <p:txBody>
          <a:bodyPr wrap="square" rtlCol="0">
            <a:spAutoFit/>
          </a:bodyPr>
          <a:lstStyle/>
          <a:p>
            <a:r>
              <a:rPr lang="en-IN" sz="1400" dirty="0">
                <a:latin typeface="Segoe UI Variable Display" pitchFamily="2" charset="0"/>
              </a:rPr>
              <a:t>BEFORE LOAD ADDITION AND COMPENSATION</a:t>
            </a:r>
          </a:p>
        </p:txBody>
      </p:sp>
      <p:graphicFrame>
        <p:nvGraphicFramePr>
          <p:cNvPr id="12" name="Table 11">
            <a:extLst>
              <a:ext uri="{FF2B5EF4-FFF2-40B4-BE49-F238E27FC236}">
                <a16:creationId xmlns:a16="http://schemas.microsoft.com/office/drawing/2014/main" id="{A1E2A5E3-41C3-465D-85E3-BA9AE3B00B82}"/>
              </a:ext>
            </a:extLst>
          </p:cNvPr>
          <p:cNvGraphicFramePr>
            <a:graphicFrameLocks noGrp="1"/>
          </p:cNvGraphicFramePr>
          <p:nvPr>
            <p:extLst>
              <p:ext uri="{D42A27DB-BD31-4B8C-83A1-F6EECF244321}">
                <p14:modId xmlns:p14="http://schemas.microsoft.com/office/powerpoint/2010/main" val="2941511741"/>
              </p:ext>
            </p:extLst>
          </p:nvPr>
        </p:nvGraphicFramePr>
        <p:xfrm>
          <a:off x="7626615" y="4595891"/>
          <a:ext cx="4165600" cy="1828800"/>
        </p:xfrm>
        <a:graphic>
          <a:graphicData uri="http://schemas.openxmlformats.org/drawingml/2006/table">
            <a:tbl>
              <a:tblPr/>
              <a:tblGrid>
                <a:gridCol w="2082800">
                  <a:extLst>
                    <a:ext uri="{9D8B030D-6E8A-4147-A177-3AD203B41FA5}">
                      <a16:colId xmlns:a16="http://schemas.microsoft.com/office/drawing/2014/main" val="2946819318"/>
                    </a:ext>
                  </a:extLst>
                </a:gridCol>
                <a:gridCol w="2082800">
                  <a:extLst>
                    <a:ext uri="{9D8B030D-6E8A-4147-A177-3AD203B41FA5}">
                      <a16:colId xmlns:a16="http://schemas.microsoft.com/office/drawing/2014/main" val="3889215589"/>
                    </a:ext>
                  </a:extLst>
                </a:gridCol>
              </a:tblGrid>
              <a:tr h="293520">
                <a:tc>
                  <a:txBody>
                    <a:bodyPr/>
                    <a:lstStyle/>
                    <a:p>
                      <a:r>
                        <a:rPr lang="en-IN" sz="1400" b="1">
                          <a:effectLst/>
                          <a:latin typeface="Google Sans Text"/>
                        </a:rPr>
                        <a:t>CATEGORY</a:t>
                      </a:r>
                      <a:endParaRPr lang="en-IN" sz="14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a:effectLst/>
                          <a:latin typeface="Google Sans Text"/>
                        </a:rPr>
                        <a:t>POWER LOSS (kW)</a:t>
                      </a:r>
                      <a:endParaRPr lang="en-IN" sz="14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0913714"/>
                  </a:ext>
                </a:extLst>
              </a:tr>
              <a:tr h="293520">
                <a:tc>
                  <a:txBody>
                    <a:bodyPr/>
                    <a:lstStyle/>
                    <a:p>
                      <a:r>
                        <a:rPr lang="en-IN" sz="1400">
                          <a:effectLst/>
                          <a:latin typeface="Google Sans Text"/>
                        </a:rPr>
                        <a:t>Line Losses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48.5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3043134"/>
                  </a:ext>
                </a:extLst>
              </a:tr>
              <a:tr h="293520">
                <a:tc>
                  <a:txBody>
                    <a:bodyPr/>
                    <a:lstStyle/>
                    <a:p>
                      <a:r>
                        <a:rPr lang="en-IN" sz="1400">
                          <a:effectLst/>
                          <a:latin typeface="Google Sans Text"/>
                        </a:rPr>
                        <a:t>Transformer Losses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effectLst/>
                          <a:latin typeface="Google Sans Text"/>
                        </a:rPr>
                        <a:t>33.4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8245553"/>
                  </a:ext>
                </a:extLst>
              </a:tr>
              <a:tr h="293520">
                <a:tc>
                  <a:txBody>
                    <a:bodyPr/>
                    <a:lstStyle/>
                    <a:p>
                      <a:r>
                        <a:rPr lang="en-IN" sz="1400" b="1">
                          <a:effectLst/>
                          <a:latin typeface="Google Sans Text"/>
                        </a:rPr>
                        <a:t>Total Losses</a:t>
                      </a:r>
                      <a:endParaRPr lang="en-IN" sz="14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a:effectLst/>
                          <a:latin typeface="Google Sans Text"/>
                        </a:rPr>
                        <a:t>81.9</a:t>
                      </a:r>
                      <a:endParaRPr lang="en-IN" sz="14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1639358"/>
                  </a:ext>
                </a:extLst>
              </a:tr>
              <a:tr h="293520">
                <a:tc>
                  <a:txBody>
                    <a:bodyPr/>
                    <a:lstStyle/>
                    <a:p>
                      <a:r>
                        <a:rPr lang="en-IN" sz="1400" b="1">
                          <a:effectLst/>
                          <a:latin typeface="Google Sans Text"/>
                        </a:rPr>
                        <a:t>Total Load Power</a:t>
                      </a:r>
                      <a:endParaRPr lang="en-IN" sz="14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a:effectLst/>
                          <a:latin typeface="Google Sans Text"/>
                        </a:rPr>
                        <a:t>2245.9</a:t>
                      </a:r>
                      <a:endParaRPr lang="en-IN" sz="14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2744405"/>
                  </a:ext>
                </a:extLst>
              </a:tr>
              <a:tr h="293520">
                <a:tc>
                  <a:txBody>
                    <a:bodyPr/>
                    <a:lstStyle/>
                    <a:p>
                      <a:r>
                        <a:rPr lang="en-IN" sz="1400" b="1" dirty="0">
                          <a:effectLst/>
                          <a:latin typeface="Google Sans Text"/>
                        </a:rPr>
                        <a:t>Loss Percentage</a:t>
                      </a:r>
                      <a:endParaRPr lang="en-IN" sz="14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dirty="0">
                          <a:effectLst/>
                          <a:latin typeface="Google Sans Text"/>
                        </a:rPr>
                        <a:t>3.64 %</a:t>
                      </a:r>
                      <a:endParaRPr lang="en-IN" sz="14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1518212"/>
                  </a:ext>
                </a:extLst>
              </a:tr>
            </a:tbl>
          </a:graphicData>
        </a:graphic>
      </p:graphicFrame>
    </p:spTree>
    <p:extLst>
      <p:ext uri="{BB962C8B-B14F-4D97-AF65-F5344CB8AC3E}">
        <p14:creationId xmlns:p14="http://schemas.microsoft.com/office/powerpoint/2010/main" val="969324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C1EEEF1-7C90-479C-A892-B703395FD8BF}"/>
              </a:ext>
            </a:extLst>
          </p:cNvPr>
          <p:cNvSpPr txBox="1"/>
          <p:nvPr/>
        </p:nvSpPr>
        <p:spPr>
          <a:xfrm>
            <a:off x="262468" y="90152"/>
            <a:ext cx="6096000" cy="584775"/>
          </a:xfrm>
          <a:prstGeom prst="rect">
            <a:avLst/>
          </a:prstGeom>
          <a:noFill/>
        </p:spPr>
        <p:txBody>
          <a:bodyPr wrap="square">
            <a:spAutoFit/>
          </a:bodyPr>
          <a:lstStyle/>
          <a:p>
            <a:r>
              <a:rPr lang="en-IN" sz="3200" b="1" dirty="0">
                <a:latin typeface="Segoe UI Variable Display" pitchFamily="2" charset="0"/>
                <a:cs typeface="Segoe UI Semibold" panose="020B0702040204020203" pitchFamily="34" charset="0"/>
              </a:rPr>
              <a:t>BUS POWER LOSSES</a:t>
            </a:r>
          </a:p>
        </p:txBody>
      </p:sp>
      <p:pic>
        <p:nvPicPr>
          <p:cNvPr id="4" name="Picture 4" descr="SASTRA University (@SASTRA_Univ ...">
            <a:extLst>
              <a:ext uri="{FF2B5EF4-FFF2-40B4-BE49-F238E27FC236}">
                <a16:creationId xmlns:a16="http://schemas.microsoft.com/office/drawing/2014/main" id="{665BCE6C-61CA-4545-90DA-036E2000C0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5385" y="199496"/>
            <a:ext cx="876830" cy="87683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45C9948-0385-4187-8422-E585F793A26A}"/>
              </a:ext>
            </a:extLst>
          </p:cNvPr>
          <p:cNvSpPr txBox="1"/>
          <p:nvPr/>
        </p:nvSpPr>
        <p:spPr>
          <a:xfrm>
            <a:off x="4852985" y="330134"/>
            <a:ext cx="4842933" cy="307777"/>
          </a:xfrm>
          <a:prstGeom prst="rect">
            <a:avLst/>
          </a:prstGeom>
          <a:noFill/>
        </p:spPr>
        <p:txBody>
          <a:bodyPr wrap="square" rtlCol="0">
            <a:spAutoFit/>
          </a:bodyPr>
          <a:lstStyle/>
          <a:p>
            <a:r>
              <a:rPr lang="en-IN" sz="1400" dirty="0">
                <a:latin typeface="Segoe UI Variable Display" pitchFamily="2" charset="0"/>
              </a:rPr>
              <a:t>AFTER LOAD ADDITION AND COMPENSATION</a:t>
            </a:r>
          </a:p>
        </p:txBody>
      </p:sp>
      <p:graphicFrame>
        <p:nvGraphicFramePr>
          <p:cNvPr id="2" name="Table 1">
            <a:extLst>
              <a:ext uri="{FF2B5EF4-FFF2-40B4-BE49-F238E27FC236}">
                <a16:creationId xmlns:a16="http://schemas.microsoft.com/office/drawing/2014/main" id="{841405E3-79AB-4836-A76C-21B6198DC43E}"/>
              </a:ext>
            </a:extLst>
          </p:cNvPr>
          <p:cNvGraphicFramePr>
            <a:graphicFrameLocks noGrp="1"/>
          </p:cNvGraphicFramePr>
          <p:nvPr>
            <p:extLst>
              <p:ext uri="{D42A27DB-BD31-4B8C-83A1-F6EECF244321}">
                <p14:modId xmlns:p14="http://schemas.microsoft.com/office/powerpoint/2010/main" val="1721714811"/>
              </p:ext>
            </p:extLst>
          </p:nvPr>
        </p:nvGraphicFramePr>
        <p:xfrm>
          <a:off x="262468" y="749553"/>
          <a:ext cx="6443136" cy="4943574"/>
        </p:xfrm>
        <a:graphic>
          <a:graphicData uri="http://schemas.openxmlformats.org/drawingml/2006/table">
            <a:tbl>
              <a:tblPr/>
              <a:tblGrid>
                <a:gridCol w="1610784">
                  <a:extLst>
                    <a:ext uri="{9D8B030D-6E8A-4147-A177-3AD203B41FA5}">
                      <a16:colId xmlns:a16="http://schemas.microsoft.com/office/drawing/2014/main" val="1356104264"/>
                    </a:ext>
                  </a:extLst>
                </a:gridCol>
                <a:gridCol w="1610784">
                  <a:extLst>
                    <a:ext uri="{9D8B030D-6E8A-4147-A177-3AD203B41FA5}">
                      <a16:colId xmlns:a16="http://schemas.microsoft.com/office/drawing/2014/main" val="1729963607"/>
                    </a:ext>
                  </a:extLst>
                </a:gridCol>
                <a:gridCol w="1610784">
                  <a:extLst>
                    <a:ext uri="{9D8B030D-6E8A-4147-A177-3AD203B41FA5}">
                      <a16:colId xmlns:a16="http://schemas.microsoft.com/office/drawing/2014/main" val="3759420758"/>
                    </a:ext>
                  </a:extLst>
                </a:gridCol>
                <a:gridCol w="1610784">
                  <a:extLst>
                    <a:ext uri="{9D8B030D-6E8A-4147-A177-3AD203B41FA5}">
                      <a16:colId xmlns:a16="http://schemas.microsoft.com/office/drawing/2014/main" val="720194322"/>
                    </a:ext>
                  </a:extLst>
                </a:gridCol>
              </a:tblGrid>
              <a:tr h="204909">
                <a:tc>
                  <a:txBody>
                    <a:bodyPr/>
                    <a:lstStyle/>
                    <a:p>
                      <a:r>
                        <a:rPr lang="en-IN" sz="1100" b="1"/>
                        <a:t>Element</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b="1"/>
                        <a:t>kW Losses</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b="1"/>
                        <a:t>% of Power</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b="1" dirty="0" err="1"/>
                        <a:t>kvar</a:t>
                      </a:r>
                      <a:r>
                        <a:rPr lang="en-IN" sz="1100" b="1" dirty="0"/>
                        <a:t> Losses</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3219391"/>
                  </a:ext>
                </a:extLst>
              </a:tr>
              <a:tr h="204909">
                <a:tc>
                  <a:txBody>
                    <a:bodyPr/>
                    <a:lstStyle/>
                    <a:p>
                      <a:r>
                        <a:rPr lang="en-IN" sz="1100" b="1" dirty="0" err="1"/>
                        <a:t>Transformer.SUB</a:t>
                      </a:r>
                      <a:endParaRPr lang="en-IN" sz="1100" dirty="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31.002</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1.19</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dirty="0"/>
                        <a:t>1.244</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382796"/>
                  </a:ext>
                </a:extLst>
              </a:tr>
              <a:tr h="204909">
                <a:tc>
                  <a:txBody>
                    <a:bodyPr/>
                    <a:lstStyle/>
                    <a:p>
                      <a:r>
                        <a:rPr lang="en-IN" sz="1100" b="1"/>
                        <a:t>Transformer.REG1</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2.605</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0.27</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dirty="0"/>
                        <a:t>0.327</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0204533"/>
                  </a:ext>
                </a:extLst>
              </a:tr>
              <a:tr h="204909">
                <a:tc>
                  <a:txBody>
                    <a:bodyPr/>
                    <a:lstStyle/>
                    <a:p>
                      <a:r>
                        <a:rPr lang="en-IN" sz="1100" b="1"/>
                        <a:t>Transformer.REG2</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1.251</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0.18</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0.158</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5640510"/>
                  </a:ext>
                </a:extLst>
              </a:tr>
              <a:tr h="204909">
                <a:tc>
                  <a:txBody>
                    <a:bodyPr/>
                    <a:lstStyle/>
                    <a:p>
                      <a:r>
                        <a:rPr lang="en-IN" sz="1100" b="1"/>
                        <a:t>Transformer.REG3</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2.337</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0.25</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0.294</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2071452"/>
                  </a:ext>
                </a:extLst>
              </a:tr>
              <a:tr h="204909">
                <a:tc>
                  <a:txBody>
                    <a:bodyPr/>
                    <a:lstStyle/>
                    <a:p>
                      <a:r>
                        <a:rPr lang="en-IN" sz="1100" b="1"/>
                        <a:t>Transformer.XFM1</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2.861</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1.03</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5.202</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4861585"/>
                  </a:ext>
                </a:extLst>
              </a:tr>
              <a:tr h="204909">
                <a:tc>
                  <a:txBody>
                    <a:bodyPr/>
                    <a:lstStyle/>
                    <a:p>
                      <a:r>
                        <a:rPr lang="en-IN" sz="1100" b="1"/>
                        <a:t>Capacitor.CAP1</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0.000</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0.00</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-545.882</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0589523"/>
                  </a:ext>
                </a:extLst>
              </a:tr>
              <a:tr h="204909">
                <a:tc>
                  <a:txBody>
                    <a:bodyPr/>
                    <a:lstStyle/>
                    <a:p>
                      <a:r>
                        <a:rPr lang="en-IN" sz="1100" b="1"/>
                        <a:t>Capacitor.CAP2</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0.000</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0.00</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-85.998</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9374781"/>
                  </a:ext>
                </a:extLst>
              </a:tr>
              <a:tr h="204909">
                <a:tc>
                  <a:txBody>
                    <a:bodyPr/>
                    <a:lstStyle/>
                    <a:p>
                      <a:r>
                        <a:rPr lang="en-IN" sz="1100" b="1"/>
                        <a:t>Capacitor.CAP3</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0.000</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dirty="0"/>
                        <a:t>0.00</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-34.830</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525493"/>
                  </a:ext>
                </a:extLst>
              </a:tr>
              <a:tr h="204909">
                <a:tc>
                  <a:txBody>
                    <a:bodyPr/>
                    <a:lstStyle/>
                    <a:p>
                      <a:r>
                        <a:rPr lang="en-IN" sz="1100" b="1"/>
                        <a:t>Capacitor.CAP4</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0.000</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0.00</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-91.170</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6801685"/>
                  </a:ext>
                </a:extLst>
              </a:tr>
              <a:tr h="204909">
                <a:tc>
                  <a:txBody>
                    <a:bodyPr/>
                    <a:lstStyle/>
                    <a:p>
                      <a:r>
                        <a:rPr lang="en-IN" sz="1100" b="1"/>
                        <a:t>Capacitor.CAP5</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0.000</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0.00</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-25.862</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5966942"/>
                  </a:ext>
                </a:extLst>
              </a:tr>
              <a:tr h="204909">
                <a:tc>
                  <a:txBody>
                    <a:bodyPr/>
                    <a:lstStyle/>
                    <a:p>
                      <a:r>
                        <a:rPr lang="en-IN" sz="1100" b="1"/>
                        <a:t>Capacitor.CAP6</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0.000</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0.00</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-72.937</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7845526"/>
                  </a:ext>
                </a:extLst>
              </a:tr>
              <a:tr h="204909">
                <a:tc>
                  <a:txBody>
                    <a:bodyPr/>
                    <a:lstStyle/>
                    <a:p>
                      <a:r>
                        <a:rPr lang="en-IN" sz="1100" b="1"/>
                        <a:t>Line.650632</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32.427</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1.26</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104.227</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0144848"/>
                  </a:ext>
                </a:extLst>
              </a:tr>
              <a:tr h="204909">
                <a:tc>
                  <a:txBody>
                    <a:bodyPr/>
                    <a:lstStyle/>
                    <a:p>
                      <a:r>
                        <a:rPr lang="en-IN" sz="1100" b="1"/>
                        <a:t>Line.632671</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21.762</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1.10</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69.762</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6518841"/>
                  </a:ext>
                </a:extLst>
              </a:tr>
              <a:tr h="204909">
                <a:tc>
                  <a:txBody>
                    <a:bodyPr/>
                    <a:lstStyle/>
                    <a:p>
                      <a:r>
                        <a:rPr lang="en-IN" sz="1100" b="1"/>
                        <a:t>Line.671680</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0.025</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0.02</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0.079</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9758825"/>
                  </a:ext>
                </a:extLst>
              </a:tr>
              <a:tr h="204909">
                <a:tc>
                  <a:txBody>
                    <a:bodyPr/>
                    <a:lstStyle/>
                    <a:p>
                      <a:r>
                        <a:rPr lang="en-IN" sz="1100" b="1"/>
                        <a:t>Line.632633</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0.425</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0.15</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0.543</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4561237"/>
                  </a:ext>
                </a:extLst>
              </a:tr>
              <a:tr h="204909">
                <a:tc>
                  <a:txBody>
                    <a:bodyPr/>
                    <a:lstStyle/>
                    <a:p>
                      <a:r>
                        <a:rPr lang="en-IN" sz="1100" b="1"/>
                        <a:t>Line.632645</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1.444</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dirty="0"/>
                        <a:t>0.51</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1.254</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7812391"/>
                  </a:ext>
                </a:extLst>
              </a:tr>
              <a:tr h="204909">
                <a:tc>
                  <a:txBody>
                    <a:bodyPr/>
                    <a:lstStyle/>
                    <a:p>
                      <a:r>
                        <a:rPr lang="en-IN" sz="1100" b="1"/>
                        <a:t>Line.645646</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0.272</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0.17</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0.216</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8232417"/>
                  </a:ext>
                </a:extLst>
              </a:tr>
              <a:tr h="204909">
                <a:tc>
                  <a:txBody>
                    <a:bodyPr/>
                    <a:lstStyle/>
                    <a:p>
                      <a:r>
                        <a:rPr lang="en-IN" sz="1100" b="1"/>
                        <a:t>Line.671684</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0.464</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0.19</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0.381</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1309338"/>
                  </a:ext>
                </a:extLst>
              </a:tr>
              <a:tr h="204909">
                <a:tc>
                  <a:txBody>
                    <a:bodyPr/>
                    <a:lstStyle/>
                    <a:p>
                      <a:r>
                        <a:rPr lang="en-IN" sz="1100" b="1"/>
                        <a:t>Line.684611</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0.211</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0.19</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0.214</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1669521"/>
                  </a:ext>
                </a:extLst>
              </a:tr>
              <a:tr h="204909">
                <a:tc>
                  <a:txBody>
                    <a:bodyPr/>
                    <a:lstStyle/>
                    <a:p>
                      <a:r>
                        <a:rPr lang="en-IN" sz="1100" b="1"/>
                        <a:t>Line.684652</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0.433</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0.50</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0.098</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8941386"/>
                  </a:ext>
                </a:extLst>
              </a:tr>
              <a:tr h="204909">
                <a:tc>
                  <a:txBody>
                    <a:bodyPr/>
                    <a:lstStyle/>
                    <a:p>
                      <a:r>
                        <a:rPr lang="en-IN" sz="1100" b="1"/>
                        <a:t>Line.692675</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dirty="0"/>
                        <a:t>2.182</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0.38</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dirty="0"/>
                        <a:t>1.202</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6482764"/>
                  </a:ext>
                </a:extLst>
              </a:tr>
              <a:tr h="204909">
                <a:tc>
                  <a:txBody>
                    <a:bodyPr/>
                    <a:lstStyle/>
                    <a:p>
                      <a:r>
                        <a:rPr lang="en-IN" sz="1100" b="1"/>
                        <a:t>Line.671692</a:t>
                      </a:r>
                      <a:endParaRPr lang="en-IN" sz="1100"/>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0.007</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0.00</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dirty="0"/>
                        <a:t>0.007</a:t>
                      </a:r>
                    </a:p>
                  </a:txBody>
                  <a:tcPr marL="47297" marR="47297"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2301156"/>
                  </a:ext>
                </a:extLst>
              </a:tr>
            </a:tbl>
          </a:graphicData>
        </a:graphic>
      </p:graphicFrame>
      <p:graphicFrame>
        <p:nvGraphicFramePr>
          <p:cNvPr id="3" name="Table 2">
            <a:extLst>
              <a:ext uri="{FF2B5EF4-FFF2-40B4-BE49-F238E27FC236}">
                <a16:creationId xmlns:a16="http://schemas.microsoft.com/office/drawing/2014/main" id="{5F8471E1-81FA-4274-AFFB-39AFF4754D5B}"/>
              </a:ext>
            </a:extLst>
          </p:cNvPr>
          <p:cNvGraphicFramePr>
            <a:graphicFrameLocks noGrp="1"/>
          </p:cNvGraphicFramePr>
          <p:nvPr>
            <p:extLst>
              <p:ext uri="{D42A27DB-BD31-4B8C-83A1-F6EECF244321}">
                <p14:modId xmlns:p14="http://schemas.microsoft.com/office/powerpoint/2010/main" val="833516751"/>
              </p:ext>
            </p:extLst>
          </p:nvPr>
        </p:nvGraphicFramePr>
        <p:xfrm>
          <a:off x="6924806" y="4931248"/>
          <a:ext cx="5267194" cy="1727256"/>
        </p:xfrm>
        <a:graphic>
          <a:graphicData uri="http://schemas.openxmlformats.org/drawingml/2006/table">
            <a:tbl>
              <a:tblPr/>
              <a:tblGrid>
                <a:gridCol w="2633597">
                  <a:extLst>
                    <a:ext uri="{9D8B030D-6E8A-4147-A177-3AD203B41FA5}">
                      <a16:colId xmlns:a16="http://schemas.microsoft.com/office/drawing/2014/main" val="353008111"/>
                    </a:ext>
                  </a:extLst>
                </a:gridCol>
                <a:gridCol w="2633597">
                  <a:extLst>
                    <a:ext uri="{9D8B030D-6E8A-4147-A177-3AD203B41FA5}">
                      <a16:colId xmlns:a16="http://schemas.microsoft.com/office/drawing/2014/main" val="1887428282"/>
                    </a:ext>
                  </a:extLst>
                </a:gridCol>
              </a:tblGrid>
              <a:tr h="287876">
                <a:tc>
                  <a:txBody>
                    <a:bodyPr/>
                    <a:lstStyle/>
                    <a:p>
                      <a:r>
                        <a:rPr lang="en-IN" sz="1200" b="1">
                          <a:effectLst/>
                          <a:latin typeface="Google Sans Text"/>
                        </a:rPr>
                        <a:t>CATEGORY</a:t>
                      </a:r>
                      <a:endParaRPr lang="en-IN" sz="12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b="1" dirty="0">
                          <a:effectLst/>
                          <a:latin typeface="Google Sans Text"/>
                        </a:rPr>
                        <a:t>POWER LOSS (kW)</a:t>
                      </a:r>
                      <a:endParaRPr lang="en-IN" sz="12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6183067"/>
                  </a:ext>
                </a:extLst>
              </a:tr>
              <a:tr h="287876">
                <a:tc>
                  <a:txBody>
                    <a:bodyPr/>
                    <a:lstStyle/>
                    <a:p>
                      <a:r>
                        <a:rPr lang="en-IN" sz="1200">
                          <a:effectLst/>
                          <a:latin typeface="Google Sans Text"/>
                        </a:rPr>
                        <a:t>Line Losses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a:effectLst/>
                          <a:latin typeface="Google Sans Text"/>
                        </a:rPr>
                        <a:t>59.7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9579185"/>
                  </a:ext>
                </a:extLst>
              </a:tr>
              <a:tr h="287876">
                <a:tc>
                  <a:txBody>
                    <a:bodyPr/>
                    <a:lstStyle/>
                    <a:p>
                      <a:r>
                        <a:rPr lang="en-IN" sz="1200">
                          <a:effectLst/>
                          <a:latin typeface="Google Sans Text"/>
                        </a:rPr>
                        <a:t>Transformer Losses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a:effectLst/>
                          <a:latin typeface="Google Sans Text"/>
                        </a:rPr>
                        <a:t>40.1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6170340"/>
                  </a:ext>
                </a:extLst>
              </a:tr>
              <a:tr h="287876">
                <a:tc>
                  <a:txBody>
                    <a:bodyPr/>
                    <a:lstStyle/>
                    <a:p>
                      <a:r>
                        <a:rPr lang="en-IN" sz="1200" b="1">
                          <a:effectLst/>
                          <a:latin typeface="Google Sans Text"/>
                        </a:rPr>
                        <a:t>Total Losses</a:t>
                      </a:r>
                      <a:endParaRPr lang="en-IN" sz="12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b="1">
                          <a:effectLst/>
                          <a:latin typeface="Google Sans Text"/>
                        </a:rPr>
                        <a:t>99.8</a:t>
                      </a:r>
                      <a:endParaRPr lang="en-IN" sz="12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6477002"/>
                  </a:ext>
                </a:extLst>
              </a:tr>
              <a:tr h="287876">
                <a:tc>
                  <a:txBody>
                    <a:bodyPr/>
                    <a:lstStyle/>
                    <a:p>
                      <a:r>
                        <a:rPr lang="en-IN" sz="1200" b="1">
                          <a:effectLst/>
                          <a:latin typeface="Google Sans Text"/>
                        </a:rPr>
                        <a:t>Total Load Power</a:t>
                      </a:r>
                      <a:endParaRPr lang="en-IN" sz="12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b="1">
                          <a:effectLst/>
                          <a:latin typeface="Google Sans Text"/>
                        </a:rPr>
                        <a:t>2512.5</a:t>
                      </a:r>
                      <a:endParaRPr lang="en-IN" sz="12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4917495"/>
                  </a:ext>
                </a:extLst>
              </a:tr>
              <a:tr h="287876">
                <a:tc>
                  <a:txBody>
                    <a:bodyPr/>
                    <a:lstStyle/>
                    <a:p>
                      <a:r>
                        <a:rPr lang="en-IN" sz="1200" b="1" dirty="0">
                          <a:effectLst/>
                          <a:latin typeface="Google Sans Text"/>
                        </a:rPr>
                        <a:t>Loss Percentage</a:t>
                      </a:r>
                      <a:endParaRPr lang="en-IN" sz="12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b="1" dirty="0">
                          <a:effectLst/>
                          <a:latin typeface="Google Sans Text"/>
                        </a:rPr>
                        <a:t>3.97 %</a:t>
                      </a:r>
                      <a:endParaRPr lang="en-IN" sz="12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5096873"/>
                  </a:ext>
                </a:extLst>
              </a:tr>
            </a:tbl>
          </a:graphicData>
        </a:graphic>
      </p:graphicFrame>
    </p:spTree>
    <p:extLst>
      <p:ext uri="{BB962C8B-B14F-4D97-AF65-F5344CB8AC3E}">
        <p14:creationId xmlns:p14="http://schemas.microsoft.com/office/powerpoint/2010/main" val="1685110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5644</TotalTime>
  <Words>1991</Words>
  <Application>Microsoft Office PowerPoint</Application>
  <PresentationFormat>Widescreen</PresentationFormat>
  <Paragraphs>893</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Google Sans Text</vt:lpstr>
      <vt:lpstr>Segoe UI Variable Display</vt:lpstr>
      <vt:lpstr>Segoe UI Variable Text Semibold</vt:lpstr>
      <vt:lpstr>Office Theme</vt:lpstr>
      <vt:lpstr>MODELING AND ANALYSIS OF IEEE 13 BUS UNBALANCED DISTRIBUTION SYSTEM USING OPENDSS</vt:lpstr>
      <vt:lpstr>ABSTRACT</vt:lpstr>
      <vt:lpstr>AIM</vt:lpstr>
      <vt:lpstr>LITERATURE REVIEW</vt:lpstr>
      <vt:lpstr>OBJECTIVES</vt:lpstr>
      <vt:lpstr>METHODOLOGY</vt:lpstr>
      <vt:lpstr>IEEE 13 BUS SYSTEM DIAGRAM</vt:lpstr>
      <vt:lpstr>LOAD ALTERATION AND COMPENSATION IN EXISTING SYSTEM:</vt:lpstr>
      <vt:lpstr>BUS DATA</vt:lpstr>
      <vt:lpstr>BUS DATA</vt:lpstr>
      <vt:lpstr>BUS DATA</vt:lpstr>
      <vt:lpstr>BUS DATA</vt:lpstr>
      <vt:lpstr>BUS DATA</vt:lpstr>
      <vt:lpstr>VOLTAGE VARIATION (LINE 632-671) ON A DAY</vt:lpstr>
      <vt:lpstr>BUS VOLTAGE PROFILE </vt:lpstr>
      <vt:lpstr>BUS VOLTAGE PROFILE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AND ANALYSIS OF IEEE 13 BUS UNBALANCED DISTRIBUTION SYSTEM USING OPENDSS</dc:title>
  <dc:creator>Akash Senthil</dc:creator>
  <cp:lastModifiedBy>Akash Senthil</cp:lastModifiedBy>
  <cp:revision>49</cp:revision>
  <dcterms:created xsi:type="dcterms:W3CDTF">2026-03-04T17:08:11Z</dcterms:created>
  <dcterms:modified xsi:type="dcterms:W3CDTF">2026-03-19T08:59:20Z</dcterms:modified>
</cp:coreProperties>
</file>